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ptos" charset="1" panose="020B0004020202020204"/>
      <p:regular r:id="rId15"/>
    </p:embeddedFont>
    <p:embeddedFont>
      <p:font typeface="Aptos Bold" charset="1" panose="020B00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21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906" y="9805073"/>
            <a:ext cx="17383373" cy="19069"/>
            <a:chOff x="0" y="0"/>
            <a:chExt cx="23177830" cy="25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77881" cy="25400"/>
            </a:xfrm>
            <a:custGeom>
              <a:avLst/>
              <a:gdLst/>
              <a:ahLst/>
              <a:cxnLst/>
              <a:rect r="r" b="b" t="t" l="l"/>
              <a:pathLst>
                <a:path h="25400" w="23177881">
                  <a:moveTo>
                    <a:pt x="0" y="0"/>
                  </a:moveTo>
                  <a:lnTo>
                    <a:pt x="2317788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7730300" r="0" b="-17730400"/>
              </a:stretch>
            </a:blipFill>
            <a:ln w="19065" cap="sq">
              <a:solidFill>
                <a:srgbClr val="1B2A3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9855784"/>
            <a:ext cx="4118019" cy="219627"/>
            <a:chOff x="0" y="0"/>
            <a:chExt cx="549069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90690" cy="292837"/>
            </a:xfrm>
            <a:custGeom>
              <a:avLst/>
              <a:gdLst/>
              <a:ahLst/>
              <a:cxnLst/>
              <a:rect r="r" b="b" t="t" l="l"/>
              <a:pathLst>
                <a:path h="292837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490693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8EA4BC"/>
                  </a:solidFill>
                  <a:latin typeface="Aptos"/>
                  <a:ea typeface="Aptos"/>
                  <a:cs typeface="Aptos"/>
                  <a:sym typeface="Aptos"/>
                </a:rPr>
                <a:t>MedServicePrice.kz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44431" y="9855784"/>
            <a:ext cx="3225784" cy="219627"/>
            <a:chOff x="0" y="0"/>
            <a:chExt cx="4301046" cy="2928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01040" cy="292837"/>
            </a:xfrm>
            <a:custGeom>
              <a:avLst/>
              <a:gdLst/>
              <a:ahLst/>
              <a:cxnLst/>
              <a:rect r="r" b="b" t="t" l="l"/>
              <a:pathLst>
                <a:path h="292837" w="4301040">
                  <a:moveTo>
                    <a:pt x="0" y="0"/>
                  </a:moveTo>
                  <a:lnTo>
                    <a:pt x="4301040" y="0"/>
                  </a:lnTo>
                  <a:lnTo>
                    <a:pt x="430104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4301046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70"/>
                </a:lnSpc>
              </a:pPr>
              <a:r>
                <a:rPr lang="en-US" sz="975">
                  <a:solidFill>
                    <a:srgbClr val="8EA4BC"/>
                  </a:solidFill>
                  <a:latin typeface="Aptos"/>
                  <a:ea typeface="Aptos"/>
                  <a:cs typeface="Aptos"/>
                  <a:sym typeface="Aptos"/>
                </a:rPr>
                <a:t>MiMo Code · Hackathon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8111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900000">
            <a:off x="-1803540" y="-1529001"/>
            <a:ext cx="5803354" cy="5803354"/>
            <a:chOff x="0" y="0"/>
            <a:chExt cx="7737805" cy="77378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solidFill>
              <a:srgbClr val="39B6FF">
                <a:alpha val="0"/>
              </a:srgbClr>
            </a:solidFill>
            <a:ln w="38130" cap="sq">
              <a:solidFill>
                <a:srgbClr val="39B6FF"/>
              </a:solidFill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solidFill>
              <a:srgbClr val="39B6FF">
                <a:alpha val="0"/>
              </a:srgbClr>
            </a:solidFill>
            <a:ln w="38130" cap="sq">
              <a:solidFill>
                <a:srgbClr val="39B6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1500000">
            <a:off x="14256725" y="6226597"/>
            <a:ext cx="5803354" cy="5803354"/>
            <a:chOff x="0" y="0"/>
            <a:chExt cx="7737805" cy="77378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solidFill>
              <a:srgbClr val="55E1D7">
                <a:alpha val="0"/>
              </a:srgbClr>
            </a:solidFill>
            <a:ln w="38130" cap="sq">
              <a:solidFill>
                <a:srgbClr val="55E1D7"/>
              </a:solidFill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solidFill>
              <a:srgbClr val="55E1D7">
                <a:alpha val="0"/>
              </a:srgbClr>
            </a:solidFill>
            <a:ln w="38130" cap="sq">
              <a:solidFill>
                <a:srgbClr val="55E1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0872" y="1070686"/>
            <a:ext cx="12628588" cy="1029500"/>
            <a:chOff x="0" y="0"/>
            <a:chExt cx="16838117" cy="13726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838115" cy="1372672"/>
            </a:xfrm>
            <a:custGeom>
              <a:avLst/>
              <a:gdLst/>
              <a:ahLst/>
              <a:cxnLst/>
              <a:rect r="r" b="b" t="t" l="l"/>
              <a:pathLst>
                <a:path h="1372672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6838117" cy="1382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5"/>
                </a:lnSpc>
              </a:pPr>
              <a:r>
                <a:rPr lang="en-US" sz="6004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MedServicePrice.kz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9500" y="2223726"/>
            <a:ext cx="11255912" cy="521618"/>
            <a:chOff x="0" y="0"/>
            <a:chExt cx="15007882" cy="6954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007885" cy="695487"/>
            </a:xfrm>
            <a:custGeom>
              <a:avLst/>
              <a:gdLst/>
              <a:ahLst/>
              <a:cxnLst/>
              <a:rect r="r" b="b" t="t" l="l"/>
              <a:pathLst>
                <a:path h="695487" w="15007885">
                  <a:moveTo>
                    <a:pt x="0" y="0"/>
                  </a:moveTo>
                  <a:lnTo>
                    <a:pt x="15007885" y="0"/>
                  </a:lnTo>
                  <a:lnTo>
                    <a:pt x="15007885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466" r="0" b="-37046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5007882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Прозрачное сравнение медицинских цен в Казахстане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33701" y="3120161"/>
            <a:ext cx="2352608" cy="485775"/>
            <a:chOff x="0" y="0"/>
            <a:chExt cx="3136811" cy="647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36773" cy="647700"/>
            </a:xfrm>
            <a:custGeom>
              <a:avLst/>
              <a:gdLst/>
              <a:ahLst/>
              <a:cxnLst/>
              <a:rect r="r" b="b" t="t" l="l"/>
              <a:pathLst>
                <a:path h="647700" w="3136773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2908173" y="0"/>
                  </a:lnTo>
                  <a:cubicBezTo>
                    <a:pt x="3034411" y="0"/>
                    <a:pt x="3136773" y="102362"/>
                    <a:pt x="3136773" y="228600"/>
                  </a:cubicBezTo>
                  <a:lnTo>
                    <a:pt x="3136773" y="419100"/>
                  </a:lnTo>
                  <a:cubicBezTo>
                    <a:pt x="3136773" y="545338"/>
                    <a:pt x="3034411" y="647700"/>
                    <a:pt x="2908173" y="647700"/>
                  </a:cubicBezTo>
                  <a:lnTo>
                    <a:pt x="228600" y="647700"/>
                  </a:lnTo>
                  <a:cubicBezTo>
                    <a:pt x="102362" y="647700"/>
                    <a:pt x="0" y="545338"/>
                    <a:pt x="0" y="419100"/>
                  </a:cubicBezTo>
                  <a:close/>
                </a:path>
              </a:pathLst>
            </a:custGeom>
            <a:solidFill>
              <a:srgbClr val="39B6FF">
                <a:alpha val="2353"/>
              </a:srgbClr>
            </a:solidFill>
            <a:ln w="19065" cap="sq">
              <a:solidFill>
                <a:srgbClr val="39B6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07951" y="3239510"/>
            <a:ext cx="2004098" cy="192176"/>
            <a:chOff x="0" y="0"/>
            <a:chExt cx="2672131" cy="2562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72136" cy="256232"/>
            </a:xfrm>
            <a:custGeom>
              <a:avLst/>
              <a:gdLst/>
              <a:ahLst/>
              <a:cxnLst/>
              <a:rect r="r" b="b" t="t" l="l"/>
              <a:pathLst>
                <a:path h="256232" w="2672136">
                  <a:moveTo>
                    <a:pt x="0" y="0"/>
                  </a:moveTo>
                  <a:lnTo>
                    <a:pt x="2672136" y="0"/>
                  </a:lnTo>
                  <a:lnTo>
                    <a:pt x="267213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200" r="0" b="-1532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672131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RU / KZ / EN поиск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628053" y="3120161"/>
            <a:ext cx="2146706" cy="485775"/>
            <a:chOff x="0" y="0"/>
            <a:chExt cx="2862275" cy="647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62326" cy="647700"/>
            </a:xfrm>
            <a:custGeom>
              <a:avLst/>
              <a:gdLst/>
              <a:ahLst/>
              <a:cxnLst/>
              <a:rect r="r" b="b" t="t" l="l"/>
              <a:pathLst>
                <a:path h="647700" w="2862326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2633726" y="0"/>
                  </a:lnTo>
                  <a:cubicBezTo>
                    <a:pt x="2759964" y="0"/>
                    <a:pt x="2862326" y="102362"/>
                    <a:pt x="2862326" y="228600"/>
                  </a:cubicBezTo>
                  <a:lnTo>
                    <a:pt x="2862326" y="419100"/>
                  </a:lnTo>
                  <a:cubicBezTo>
                    <a:pt x="2862326" y="545338"/>
                    <a:pt x="2759964" y="647700"/>
                    <a:pt x="2633726" y="647700"/>
                  </a:cubicBezTo>
                  <a:lnTo>
                    <a:pt x="228600" y="647700"/>
                  </a:lnTo>
                  <a:cubicBezTo>
                    <a:pt x="102362" y="647700"/>
                    <a:pt x="0" y="545338"/>
                    <a:pt x="0" y="419100"/>
                  </a:cubicBezTo>
                  <a:close/>
                </a:path>
              </a:pathLst>
            </a:custGeom>
            <a:solidFill>
              <a:srgbClr val="55E1D7">
                <a:alpha val="2353"/>
              </a:srgbClr>
            </a:solidFill>
            <a:ln w="19065" cap="sq">
              <a:solidFill>
                <a:srgbClr val="55E1D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3802304" y="3239510"/>
            <a:ext cx="1798196" cy="192176"/>
            <a:chOff x="0" y="0"/>
            <a:chExt cx="2397595" cy="25623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97601" cy="256232"/>
            </a:xfrm>
            <a:custGeom>
              <a:avLst/>
              <a:gdLst/>
              <a:ahLst/>
              <a:cxnLst/>
              <a:rect r="r" b="b" t="t" l="l"/>
              <a:pathLst>
                <a:path h="256232" w="2397601">
                  <a:moveTo>
                    <a:pt x="0" y="0"/>
                  </a:moveTo>
                  <a:lnTo>
                    <a:pt x="2397601" y="0"/>
                  </a:lnTo>
                  <a:lnTo>
                    <a:pt x="2397601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323" r="0" b="-13232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39759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13+ источников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030230" y="3120161"/>
            <a:ext cx="1872177" cy="485775"/>
            <a:chOff x="0" y="0"/>
            <a:chExt cx="2496236" cy="647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96185" cy="647700"/>
            </a:xfrm>
            <a:custGeom>
              <a:avLst/>
              <a:gdLst/>
              <a:ahLst/>
              <a:cxnLst/>
              <a:rect r="r" b="b" t="t" l="l"/>
              <a:pathLst>
                <a:path h="647700" w="2496185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2267585" y="0"/>
                  </a:lnTo>
                  <a:cubicBezTo>
                    <a:pt x="2393823" y="0"/>
                    <a:pt x="2496185" y="102362"/>
                    <a:pt x="2496185" y="228600"/>
                  </a:cubicBezTo>
                  <a:lnTo>
                    <a:pt x="2496185" y="419100"/>
                  </a:lnTo>
                  <a:cubicBezTo>
                    <a:pt x="2496185" y="545338"/>
                    <a:pt x="2393823" y="647700"/>
                    <a:pt x="2267585" y="647700"/>
                  </a:cubicBezTo>
                  <a:lnTo>
                    <a:pt x="228600" y="647700"/>
                  </a:lnTo>
                  <a:cubicBezTo>
                    <a:pt x="102362" y="647700"/>
                    <a:pt x="0" y="545338"/>
                    <a:pt x="0" y="419100"/>
                  </a:cubicBezTo>
                  <a:close/>
                </a:path>
              </a:pathLst>
            </a:custGeom>
            <a:solidFill>
              <a:srgbClr val="79F2A4">
                <a:alpha val="2353"/>
              </a:srgbClr>
            </a:solidFill>
            <a:ln w="19065" cap="sq">
              <a:solidFill>
                <a:srgbClr val="79F2A4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204480" y="3239510"/>
            <a:ext cx="1523667" cy="192176"/>
            <a:chOff x="0" y="0"/>
            <a:chExt cx="2031556" cy="25623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31555" cy="256232"/>
            </a:xfrm>
            <a:custGeom>
              <a:avLst/>
              <a:gdLst/>
              <a:ahLst/>
              <a:cxnLst/>
              <a:rect r="r" b="b" t="t" l="l"/>
              <a:pathLst>
                <a:path h="256232" w="2031555">
                  <a:moveTo>
                    <a:pt x="0" y="0"/>
                  </a:moveTo>
                  <a:lnTo>
                    <a:pt x="2031555" y="0"/>
                  </a:lnTo>
                  <a:lnTo>
                    <a:pt x="2031555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487" r="0" b="-10448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2031556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Docker demo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040485" y="1294505"/>
            <a:ext cx="5990187" cy="6813794"/>
            <a:chOff x="0" y="0"/>
            <a:chExt cx="7986916" cy="908505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986902" cy="9085072"/>
            </a:xfrm>
            <a:custGeom>
              <a:avLst/>
              <a:gdLst/>
              <a:ahLst/>
              <a:cxnLst/>
              <a:rect r="r" b="b" t="t" l="l"/>
              <a:pathLst>
                <a:path h="9085072" w="7986902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7766558" y="0"/>
                  </a:lnTo>
                  <a:cubicBezTo>
                    <a:pt x="7888224" y="0"/>
                    <a:pt x="7986902" y="98679"/>
                    <a:pt x="7986902" y="220345"/>
                  </a:cubicBezTo>
                  <a:lnTo>
                    <a:pt x="7986902" y="8864727"/>
                  </a:lnTo>
                  <a:cubicBezTo>
                    <a:pt x="7986902" y="8986393"/>
                    <a:pt x="7888224" y="9085072"/>
                    <a:pt x="7766558" y="9085072"/>
                  </a:cubicBezTo>
                  <a:lnTo>
                    <a:pt x="220345" y="9085072"/>
                  </a:lnTo>
                  <a:cubicBezTo>
                    <a:pt x="98679" y="9085072"/>
                    <a:pt x="0" y="8986393"/>
                    <a:pt x="0" y="8864727"/>
                  </a:cubicBezTo>
                  <a:close/>
                </a:path>
              </a:pathLst>
            </a:custGeom>
            <a:solidFill>
              <a:srgbClr val="0E1A2A"/>
            </a:solidFill>
            <a:ln w="19065" cap="sq">
              <a:solidFill>
                <a:srgbClr val="27445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562093" y="1816122"/>
            <a:ext cx="4960687" cy="677951"/>
            <a:chOff x="0" y="0"/>
            <a:chExt cx="6614249" cy="90393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614287" cy="903986"/>
            </a:xfrm>
            <a:custGeom>
              <a:avLst/>
              <a:gdLst/>
              <a:ahLst/>
              <a:cxnLst/>
              <a:rect r="r" b="b" t="t" l="l"/>
              <a:pathLst>
                <a:path h="903986" w="6614287">
                  <a:moveTo>
                    <a:pt x="0" y="263652"/>
                  </a:moveTo>
                  <a:cubicBezTo>
                    <a:pt x="0" y="117983"/>
                    <a:pt x="117983" y="0"/>
                    <a:pt x="263652" y="0"/>
                  </a:cubicBezTo>
                  <a:lnTo>
                    <a:pt x="6350635" y="0"/>
                  </a:lnTo>
                  <a:cubicBezTo>
                    <a:pt x="6496304" y="0"/>
                    <a:pt x="6614287" y="117983"/>
                    <a:pt x="6614287" y="263652"/>
                  </a:cubicBezTo>
                  <a:lnTo>
                    <a:pt x="6614287" y="640334"/>
                  </a:lnTo>
                  <a:cubicBezTo>
                    <a:pt x="6614287" y="786003"/>
                    <a:pt x="6496304" y="903986"/>
                    <a:pt x="6350635" y="903986"/>
                  </a:cubicBezTo>
                  <a:lnTo>
                    <a:pt x="263652" y="903986"/>
                  </a:lnTo>
                  <a:cubicBezTo>
                    <a:pt x="117983" y="903986"/>
                    <a:pt x="0" y="785876"/>
                    <a:pt x="0" y="640334"/>
                  </a:cubicBezTo>
                  <a:close/>
                </a:path>
              </a:pathLst>
            </a:custGeom>
            <a:solidFill>
              <a:srgbClr val="14263A"/>
            </a:solidFill>
            <a:ln w="19065" cap="sq">
              <a:solidFill>
                <a:srgbClr val="2E506C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1804980" y="2017833"/>
            <a:ext cx="4255284" cy="205902"/>
            <a:chOff x="0" y="0"/>
            <a:chExt cx="5673712" cy="2745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673713" cy="274534"/>
            </a:xfrm>
            <a:custGeom>
              <a:avLst/>
              <a:gdLst/>
              <a:ahLst/>
              <a:cxnLst/>
              <a:rect r="r" b="b" t="t" l="l"/>
              <a:pathLst>
                <a:path h="274534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690" r="0" b="-35269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5673712" cy="284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F4F8FB"/>
                  </a:solidFill>
                  <a:latin typeface="Aptos"/>
                  <a:ea typeface="Aptos"/>
                  <a:cs typeface="Aptos"/>
                  <a:sym typeface="Aptos"/>
                </a:rPr>
                <a:t>🔎  Общий анализ крови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562093" y="2845622"/>
            <a:ext cx="4960687" cy="760305"/>
            <a:chOff x="0" y="0"/>
            <a:chExt cx="6614249" cy="101373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614287" cy="1013714"/>
            </a:xfrm>
            <a:custGeom>
              <a:avLst/>
              <a:gdLst/>
              <a:ahLst/>
              <a:cxnLst/>
              <a:rect r="r" b="b" t="t" l="l"/>
              <a:pathLst>
                <a:path h="1013714" w="6614287">
                  <a:moveTo>
                    <a:pt x="0" y="225298"/>
                  </a:moveTo>
                  <a:cubicBezTo>
                    <a:pt x="0" y="100838"/>
                    <a:pt x="100838" y="0"/>
                    <a:pt x="225298" y="0"/>
                  </a:cubicBezTo>
                  <a:lnTo>
                    <a:pt x="6388989" y="0"/>
                  </a:lnTo>
                  <a:cubicBezTo>
                    <a:pt x="6513449" y="0"/>
                    <a:pt x="6614287" y="100838"/>
                    <a:pt x="6614287" y="225298"/>
                  </a:cubicBezTo>
                  <a:lnTo>
                    <a:pt x="6614287" y="788416"/>
                  </a:lnTo>
                  <a:cubicBezTo>
                    <a:pt x="6614287" y="912876"/>
                    <a:pt x="6513449" y="1013714"/>
                    <a:pt x="6388989" y="1013714"/>
                  </a:cubicBezTo>
                  <a:lnTo>
                    <a:pt x="225298" y="1013714"/>
                  </a:lnTo>
                  <a:cubicBezTo>
                    <a:pt x="100838" y="1013714"/>
                    <a:pt x="0" y="912876"/>
                    <a:pt x="0" y="788416"/>
                  </a:cubicBezTo>
                  <a:close/>
                </a:path>
              </a:pathLst>
            </a:custGeom>
            <a:solidFill>
              <a:srgbClr val="101D2E"/>
            </a:solidFill>
            <a:ln w="19065" cap="sq">
              <a:solidFill>
                <a:srgbClr val="213851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1832441" y="3074784"/>
            <a:ext cx="2333539" cy="178451"/>
            <a:chOff x="0" y="0"/>
            <a:chExt cx="3111386" cy="23793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11391" cy="237930"/>
            </a:xfrm>
            <a:custGeom>
              <a:avLst/>
              <a:gdLst/>
              <a:ahLst/>
              <a:cxnLst/>
              <a:rect r="r" b="b" t="t" l="l"/>
              <a:pathLst>
                <a:path h="237930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802" r="0" b="-20480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3111386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KDL Olymp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962127" y="3074784"/>
            <a:ext cx="1235402" cy="178451"/>
            <a:chOff x="0" y="0"/>
            <a:chExt cx="1647203" cy="23793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647207" cy="237930"/>
            </a:xfrm>
            <a:custGeom>
              <a:avLst/>
              <a:gdLst/>
              <a:ahLst/>
              <a:cxnLst/>
              <a:rect r="r" b="b" t="t" l="l"/>
              <a:pathLst>
                <a:path h="237930" w="1647207">
                  <a:moveTo>
                    <a:pt x="0" y="0"/>
                  </a:moveTo>
                  <a:lnTo>
                    <a:pt x="1647207" y="0"/>
                  </a:lnTo>
                  <a:lnTo>
                    <a:pt x="1647207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95" r="0" b="-8489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647203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1"/>
                </a:lnSpc>
              </a:pPr>
              <a:r>
                <a:rPr lang="en-US" sz="1275" b="true">
                  <a:solidFill>
                    <a:srgbClr val="79F2A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2 400 ₸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562093" y="3833946"/>
            <a:ext cx="4960687" cy="760305"/>
            <a:chOff x="0" y="0"/>
            <a:chExt cx="6614249" cy="101373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614287" cy="1013714"/>
            </a:xfrm>
            <a:custGeom>
              <a:avLst/>
              <a:gdLst/>
              <a:ahLst/>
              <a:cxnLst/>
              <a:rect r="r" b="b" t="t" l="l"/>
              <a:pathLst>
                <a:path h="1013714" w="6614287">
                  <a:moveTo>
                    <a:pt x="0" y="225298"/>
                  </a:moveTo>
                  <a:cubicBezTo>
                    <a:pt x="0" y="100838"/>
                    <a:pt x="100838" y="0"/>
                    <a:pt x="225298" y="0"/>
                  </a:cubicBezTo>
                  <a:lnTo>
                    <a:pt x="6388989" y="0"/>
                  </a:lnTo>
                  <a:cubicBezTo>
                    <a:pt x="6513449" y="0"/>
                    <a:pt x="6614287" y="100838"/>
                    <a:pt x="6614287" y="225298"/>
                  </a:cubicBezTo>
                  <a:lnTo>
                    <a:pt x="6614287" y="788416"/>
                  </a:lnTo>
                  <a:cubicBezTo>
                    <a:pt x="6614287" y="912876"/>
                    <a:pt x="6513449" y="1013714"/>
                    <a:pt x="6388989" y="1013714"/>
                  </a:cubicBezTo>
                  <a:lnTo>
                    <a:pt x="225298" y="1013714"/>
                  </a:lnTo>
                  <a:cubicBezTo>
                    <a:pt x="100838" y="1013714"/>
                    <a:pt x="0" y="912876"/>
                    <a:pt x="0" y="788416"/>
                  </a:cubicBezTo>
                  <a:close/>
                </a:path>
              </a:pathLst>
            </a:custGeom>
            <a:solidFill>
              <a:srgbClr val="101D2E"/>
            </a:solidFill>
            <a:ln w="19065" cap="sq">
              <a:solidFill>
                <a:srgbClr val="213851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1832441" y="4063108"/>
            <a:ext cx="2333539" cy="178451"/>
            <a:chOff x="0" y="0"/>
            <a:chExt cx="3111386" cy="23793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111391" cy="237930"/>
            </a:xfrm>
            <a:custGeom>
              <a:avLst/>
              <a:gdLst/>
              <a:ahLst/>
              <a:cxnLst/>
              <a:rect r="r" b="b" t="t" l="l"/>
              <a:pathLst>
                <a:path h="237930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802" r="0" b="-20480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3111386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Gemotest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962127" y="4063108"/>
            <a:ext cx="1235402" cy="178451"/>
            <a:chOff x="0" y="0"/>
            <a:chExt cx="1647203" cy="23793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647207" cy="237930"/>
            </a:xfrm>
            <a:custGeom>
              <a:avLst/>
              <a:gdLst/>
              <a:ahLst/>
              <a:cxnLst/>
              <a:rect r="r" b="b" t="t" l="l"/>
              <a:pathLst>
                <a:path h="237930" w="1647207">
                  <a:moveTo>
                    <a:pt x="0" y="0"/>
                  </a:moveTo>
                  <a:lnTo>
                    <a:pt x="1647207" y="0"/>
                  </a:lnTo>
                  <a:lnTo>
                    <a:pt x="1647207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95" r="0" b="-8489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1647203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1"/>
                </a:lnSpc>
              </a:pPr>
              <a:r>
                <a:rPr lang="en-US" sz="1275" b="true">
                  <a:solidFill>
                    <a:srgbClr val="55E1D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2 980 ₸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562093" y="4822279"/>
            <a:ext cx="4960687" cy="760305"/>
            <a:chOff x="0" y="0"/>
            <a:chExt cx="6614249" cy="101373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614287" cy="1013714"/>
            </a:xfrm>
            <a:custGeom>
              <a:avLst/>
              <a:gdLst/>
              <a:ahLst/>
              <a:cxnLst/>
              <a:rect r="r" b="b" t="t" l="l"/>
              <a:pathLst>
                <a:path h="1013714" w="6614287">
                  <a:moveTo>
                    <a:pt x="0" y="225298"/>
                  </a:moveTo>
                  <a:cubicBezTo>
                    <a:pt x="0" y="100838"/>
                    <a:pt x="100838" y="0"/>
                    <a:pt x="225298" y="0"/>
                  </a:cubicBezTo>
                  <a:lnTo>
                    <a:pt x="6388989" y="0"/>
                  </a:lnTo>
                  <a:cubicBezTo>
                    <a:pt x="6513449" y="0"/>
                    <a:pt x="6614287" y="100838"/>
                    <a:pt x="6614287" y="225298"/>
                  </a:cubicBezTo>
                  <a:lnTo>
                    <a:pt x="6614287" y="788416"/>
                  </a:lnTo>
                  <a:cubicBezTo>
                    <a:pt x="6614287" y="912876"/>
                    <a:pt x="6513449" y="1013714"/>
                    <a:pt x="6388989" y="1013714"/>
                  </a:cubicBezTo>
                  <a:lnTo>
                    <a:pt x="225298" y="1013714"/>
                  </a:lnTo>
                  <a:cubicBezTo>
                    <a:pt x="100838" y="1013714"/>
                    <a:pt x="0" y="912876"/>
                    <a:pt x="0" y="788416"/>
                  </a:cubicBezTo>
                  <a:close/>
                </a:path>
              </a:pathLst>
            </a:custGeom>
            <a:solidFill>
              <a:srgbClr val="101D2E"/>
            </a:solidFill>
            <a:ln w="19065" cap="sq">
              <a:solidFill>
                <a:srgbClr val="213851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1832441" y="5051431"/>
            <a:ext cx="2333539" cy="178451"/>
            <a:chOff x="0" y="0"/>
            <a:chExt cx="3111386" cy="23793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11391" cy="237930"/>
            </a:xfrm>
            <a:custGeom>
              <a:avLst/>
              <a:gdLst/>
              <a:ahLst/>
              <a:cxnLst/>
              <a:rect r="r" b="b" t="t" l="l"/>
              <a:pathLst>
                <a:path h="237930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802" r="0" b="-20480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3111386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AlatauLab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962127" y="5051431"/>
            <a:ext cx="1235402" cy="178451"/>
            <a:chOff x="0" y="0"/>
            <a:chExt cx="1647203" cy="23793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647207" cy="237930"/>
            </a:xfrm>
            <a:custGeom>
              <a:avLst/>
              <a:gdLst/>
              <a:ahLst/>
              <a:cxnLst/>
              <a:rect r="r" b="b" t="t" l="l"/>
              <a:pathLst>
                <a:path h="237930" w="1647207">
                  <a:moveTo>
                    <a:pt x="0" y="0"/>
                  </a:moveTo>
                  <a:lnTo>
                    <a:pt x="1647207" y="0"/>
                  </a:lnTo>
                  <a:lnTo>
                    <a:pt x="1647207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95" r="0" b="-8489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1647203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1"/>
                </a:lnSpc>
              </a:pPr>
              <a:r>
                <a:rPr lang="en-US" sz="1275" b="true">
                  <a:solidFill>
                    <a:srgbClr val="FFD1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3 100 ₸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562093" y="6277308"/>
            <a:ext cx="4960687" cy="870118"/>
            <a:chOff x="0" y="0"/>
            <a:chExt cx="6614249" cy="116015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614160" cy="1160145"/>
            </a:xfrm>
            <a:custGeom>
              <a:avLst/>
              <a:gdLst/>
              <a:ahLst/>
              <a:cxnLst/>
              <a:rect r="r" b="b" t="t" l="l"/>
              <a:pathLst>
                <a:path h="1160145" w="6614160">
                  <a:moveTo>
                    <a:pt x="0" y="243205"/>
                  </a:moveTo>
                  <a:cubicBezTo>
                    <a:pt x="0" y="108966"/>
                    <a:pt x="108966" y="0"/>
                    <a:pt x="243205" y="0"/>
                  </a:cubicBezTo>
                  <a:lnTo>
                    <a:pt x="6370955" y="0"/>
                  </a:lnTo>
                  <a:cubicBezTo>
                    <a:pt x="6505321" y="0"/>
                    <a:pt x="6614160" y="108966"/>
                    <a:pt x="6614160" y="243205"/>
                  </a:cubicBezTo>
                  <a:lnTo>
                    <a:pt x="6614160" y="916940"/>
                  </a:lnTo>
                  <a:cubicBezTo>
                    <a:pt x="6614160" y="1051306"/>
                    <a:pt x="6505194" y="1160145"/>
                    <a:pt x="6370955" y="1160145"/>
                  </a:cubicBezTo>
                  <a:lnTo>
                    <a:pt x="243205" y="1160145"/>
                  </a:lnTo>
                  <a:cubicBezTo>
                    <a:pt x="108966" y="1160145"/>
                    <a:pt x="0" y="1051306"/>
                    <a:pt x="0" y="916940"/>
                  </a:cubicBezTo>
                  <a:close/>
                </a:path>
              </a:pathLst>
            </a:custGeom>
            <a:solidFill>
              <a:srgbClr val="39B6F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697216" y="6547647"/>
            <a:ext cx="2676716" cy="233353"/>
            <a:chOff x="0" y="0"/>
            <a:chExt cx="3568954" cy="31113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568948" cy="311139"/>
            </a:xfrm>
            <a:custGeom>
              <a:avLst/>
              <a:gdLst/>
              <a:ahLst/>
              <a:cxnLst/>
              <a:rect r="r" b="b" t="t" l="l"/>
              <a:pathLst>
                <a:path h="311139" w="3568948">
                  <a:moveTo>
                    <a:pt x="0" y="0"/>
                  </a:moveTo>
                  <a:lnTo>
                    <a:pt x="3568948" y="0"/>
                  </a:lnTo>
                  <a:lnTo>
                    <a:pt x="3568948" y="311139"/>
                  </a:lnTo>
                  <a:lnTo>
                    <a:pt x="0" y="3111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505" r="0" b="-17350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3568954" cy="311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37"/>
                </a:lnSpc>
              </a:pPr>
              <a:r>
                <a:rPr lang="en-US" sz="1531" b="true">
                  <a:solidFill>
                    <a:srgbClr val="06111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Открыть на карте →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7798910" y="9901504"/>
            <a:ext cx="1018061" cy="35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EA4BC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906" y="9805073"/>
            <a:ext cx="17383373" cy="19069"/>
            <a:chOff x="0" y="0"/>
            <a:chExt cx="23177830" cy="25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77881" cy="25400"/>
            </a:xfrm>
            <a:custGeom>
              <a:avLst/>
              <a:gdLst/>
              <a:ahLst/>
              <a:cxnLst/>
              <a:rect r="r" b="b" t="t" l="l"/>
              <a:pathLst>
                <a:path h="25400" w="23177881">
                  <a:moveTo>
                    <a:pt x="0" y="0"/>
                  </a:moveTo>
                  <a:lnTo>
                    <a:pt x="2317788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7730300" r="0" b="-17730400"/>
              </a:stretch>
            </a:blipFill>
            <a:ln w="19065" cap="sq">
              <a:solidFill>
                <a:srgbClr val="1B2A3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9855784"/>
            <a:ext cx="4118019" cy="219627"/>
            <a:chOff x="0" y="0"/>
            <a:chExt cx="549069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90690" cy="292837"/>
            </a:xfrm>
            <a:custGeom>
              <a:avLst/>
              <a:gdLst/>
              <a:ahLst/>
              <a:cxnLst/>
              <a:rect r="r" b="b" t="t" l="l"/>
              <a:pathLst>
                <a:path h="292837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490693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8EA4BC"/>
                  </a:solidFill>
                  <a:latin typeface="Aptos"/>
                  <a:ea typeface="Aptos"/>
                  <a:cs typeface="Aptos"/>
                  <a:sym typeface="Aptos"/>
                </a:rPr>
                <a:t>MedServicePrice.kz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44431" y="9855784"/>
            <a:ext cx="3225784" cy="219627"/>
            <a:chOff x="0" y="0"/>
            <a:chExt cx="4301046" cy="2928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01040" cy="292837"/>
            </a:xfrm>
            <a:custGeom>
              <a:avLst/>
              <a:gdLst/>
              <a:ahLst/>
              <a:cxnLst/>
              <a:rect r="r" b="b" t="t" l="l"/>
              <a:pathLst>
                <a:path h="292837" w="4301040">
                  <a:moveTo>
                    <a:pt x="0" y="0"/>
                  </a:moveTo>
                  <a:lnTo>
                    <a:pt x="4301040" y="0"/>
                  </a:lnTo>
                  <a:lnTo>
                    <a:pt x="430104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4301046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70"/>
                </a:lnSpc>
              </a:pPr>
              <a:r>
                <a:rPr lang="en-US" sz="975">
                  <a:solidFill>
                    <a:srgbClr val="8EA4BC"/>
                  </a:solidFill>
                  <a:latin typeface="Aptos"/>
                  <a:ea typeface="Aptos"/>
                  <a:cs typeface="Aptos"/>
                  <a:sym typeface="Aptos"/>
                </a:rPr>
                <a:t>MiMo Code · Hackathon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8111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900000">
            <a:off x="-1803540" y="-1529001"/>
            <a:ext cx="5803354" cy="5803354"/>
            <a:chOff x="0" y="0"/>
            <a:chExt cx="7737805" cy="77378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solidFill>
              <a:srgbClr val="39B6FF">
                <a:alpha val="0"/>
              </a:srgbClr>
            </a:solidFill>
            <a:ln w="38130" cap="sq">
              <a:solidFill>
                <a:srgbClr val="39B6FF"/>
              </a:solidFill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solidFill>
              <a:srgbClr val="39B6FF">
                <a:alpha val="0"/>
              </a:srgbClr>
            </a:solidFill>
            <a:ln w="38130" cap="sq">
              <a:solidFill>
                <a:srgbClr val="39B6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1500000">
            <a:off x="14256725" y="6226597"/>
            <a:ext cx="5803354" cy="5803354"/>
            <a:chOff x="0" y="0"/>
            <a:chExt cx="7737805" cy="77378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solidFill>
              <a:srgbClr val="55E1D7">
                <a:alpha val="0"/>
              </a:srgbClr>
            </a:solidFill>
            <a:ln w="38130" cap="sq">
              <a:solidFill>
                <a:srgbClr val="55E1D7"/>
              </a:solidFill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solidFill>
              <a:srgbClr val="55E1D7">
                <a:alpha val="0"/>
              </a:srgbClr>
            </a:solidFill>
            <a:ln w="38130" cap="sq">
              <a:solidFill>
                <a:srgbClr val="55E1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92235" y="494167"/>
            <a:ext cx="11667715" cy="343167"/>
            <a:chOff x="0" y="0"/>
            <a:chExt cx="15556954" cy="4575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56954" cy="457557"/>
            </a:xfrm>
            <a:custGeom>
              <a:avLst/>
              <a:gdLst/>
              <a:ahLst/>
              <a:cxnLst/>
              <a:rect r="r" b="b" t="t" l="l"/>
              <a:pathLst>
                <a:path h="457557" w="15556954">
                  <a:moveTo>
                    <a:pt x="0" y="0"/>
                  </a:moveTo>
                  <a:lnTo>
                    <a:pt x="15556954" y="0"/>
                  </a:lnTo>
                  <a:lnTo>
                    <a:pt x="15556954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5556954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 b="true">
                  <a:solidFill>
                    <a:srgbClr val="55E1D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ЗАЧЕМ ЭТО НУЖНО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51059" y="988324"/>
            <a:ext cx="14824862" cy="754971"/>
            <a:chOff x="0" y="0"/>
            <a:chExt cx="19766483" cy="10066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766483" cy="1006626"/>
            </a:xfrm>
            <a:custGeom>
              <a:avLst/>
              <a:gdLst/>
              <a:ahLst/>
              <a:cxnLst/>
              <a:rect r="r" b="b" t="t" l="l"/>
              <a:pathLst>
                <a:path h="1006626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615" r="0" b="-33261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9766483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3"/>
                </a:lnSpc>
              </a:pPr>
              <a:r>
                <a:rPr lang="en-US" sz="3752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Проблема → решение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63641" y="1824514"/>
            <a:ext cx="1635766" cy="57198"/>
            <a:chOff x="0" y="0"/>
            <a:chExt cx="2181022" cy="762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80971" cy="76200"/>
            </a:xfrm>
            <a:custGeom>
              <a:avLst/>
              <a:gdLst/>
              <a:ahLst/>
              <a:cxnLst/>
              <a:rect r="r" b="b" t="t" l="l"/>
              <a:pathLst>
                <a:path h="76200" w="2180971">
                  <a:moveTo>
                    <a:pt x="0" y="0"/>
                  </a:moveTo>
                  <a:lnTo>
                    <a:pt x="2180971" y="762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507665" r="-2" b="-507748"/>
              </a:stretch>
            </a:blipFill>
            <a:ln w="57195" cap="sq">
              <a:solidFill>
                <a:srgbClr val="39B6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78789" y="2488730"/>
            <a:ext cx="7911932" cy="6401991"/>
            <a:chOff x="0" y="0"/>
            <a:chExt cx="10549242" cy="85359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49255" cy="8536051"/>
            </a:xfrm>
            <a:custGeom>
              <a:avLst/>
              <a:gdLst/>
              <a:ahLst/>
              <a:cxnLst/>
              <a:rect r="r" b="b" t="t" l="l"/>
              <a:pathLst>
                <a:path h="8536051" w="10549255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10328910" y="0"/>
                  </a:lnTo>
                  <a:cubicBezTo>
                    <a:pt x="10450576" y="0"/>
                    <a:pt x="10549255" y="98679"/>
                    <a:pt x="10549255" y="220345"/>
                  </a:cubicBezTo>
                  <a:lnTo>
                    <a:pt x="10549255" y="8315706"/>
                  </a:lnTo>
                  <a:cubicBezTo>
                    <a:pt x="10549255" y="8437373"/>
                    <a:pt x="10450576" y="8536051"/>
                    <a:pt x="10328910" y="8536051"/>
                  </a:cubicBezTo>
                  <a:lnTo>
                    <a:pt x="220345" y="8536051"/>
                  </a:lnTo>
                  <a:cubicBezTo>
                    <a:pt x="98679" y="8536051"/>
                    <a:pt x="0" y="8437372"/>
                    <a:pt x="0" y="8315706"/>
                  </a:cubicBezTo>
                  <a:close/>
                </a:path>
              </a:pathLst>
            </a:custGeom>
            <a:solidFill>
              <a:srgbClr val="0D1A2A"/>
            </a:solidFill>
            <a:ln w="19065" cap="sq">
              <a:solidFill>
                <a:srgbClr val="2A405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41304" y="2855157"/>
            <a:ext cx="6794725" cy="823608"/>
            <a:chOff x="0" y="0"/>
            <a:chExt cx="9059634" cy="10981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0596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9059638">
                  <a:moveTo>
                    <a:pt x="0" y="0"/>
                  </a:moveTo>
                  <a:lnTo>
                    <a:pt x="9059638" y="0"/>
                  </a:lnTo>
                  <a:lnTo>
                    <a:pt x="90596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9059634" cy="10886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Сейчас пациенту сложно понять, где дешевле и актуальнее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59230" y="4245750"/>
            <a:ext cx="197510" cy="197510"/>
            <a:chOff x="0" y="0"/>
            <a:chExt cx="263347" cy="26334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3398" cy="263398"/>
            </a:xfrm>
            <a:custGeom>
              <a:avLst/>
              <a:gdLst/>
              <a:ahLst/>
              <a:cxnLst/>
              <a:rect r="r" b="b" t="t" l="l"/>
              <a:pathLst>
                <a:path h="263398" w="263398">
                  <a:moveTo>
                    <a:pt x="0" y="131699"/>
                  </a:moveTo>
                  <a:cubicBezTo>
                    <a:pt x="0" y="58928"/>
                    <a:pt x="58928" y="0"/>
                    <a:pt x="131699" y="0"/>
                  </a:cubicBezTo>
                  <a:cubicBezTo>
                    <a:pt x="204470" y="0"/>
                    <a:pt x="263398" y="58928"/>
                    <a:pt x="263398" y="131699"/>
                  </a:cubicBezTo>
                  <a:cubicBezTo>
                    <a:pt x="263398" y="204470"/>
                    <a:pt x="204343" y="263398"/>
                    <a:pt x="131699" y="263398"/>
                  </a:cubicBezTo>
                  <a:cubicBezTo>
                    <a:pt x="59055" y="263398"/>
                    <a:pt x="0" y="204343"/>
                    <a:pt x="0" y="131699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98196" y="4186647"/>
            <a:ext cx="6520196" cy="494167"/>
            <a:chOff x="0" y="0"/>
            <a:chExt cx="8693594" cy="65888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693592" cy="658883"/>
            </a:xfrm>
            <a:custGeom>
              <a:avLst/>
              <a:gdLst/>
              <a:ahLst/>
              <a:cxnLst/>
              <a:rect r="r" b="b" t="t" l="l"/>
              <a:pathLst>
                <a:path h="658883" w="8693592">
                  <a:moveTo>
                    <a:pt x="0" y="0"/>
                  </a:moveTo>
                  <a:lnTo>
                    <a:pt x="8693592" y="0"/>
                  </a:lnTo>
                  <a:lnTo>
                    <a:pt x="869359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093" r="0" b="-20709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8693594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>
                  <a:solidFill>
                    <a:srgbClr val="F4F8FB"/>
                  </a:solidFill>
                  <a:latin typeface="Aptos"/>
                  <a:ea typeface="Aptos"/>
                  <a:cs typeface="Aptos"/>
                  <a:sym typeface="Aptos"/>
                </a:rPr>
                <a:t>Цены разбросаны по сайтам, PDF и прайс-листам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59230" y="4973269"/>
            <a:ext cx="197510" cy="197510"/>
            <a:chOff x="0" y="0"/>
            <a:chExt cx="263347" cy="26334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63398" cy="263398"/>
            </a:xfrm>
            <a:custGeom>
              <a:avLst/>
              <a:gdLst/>
              <a:ahLst/>
              <a:cxnLst/>
              <a:rect r="r" b="b" t="t" l="l"/>
              <a:pathLst>
                <a:path h="263398" w="263398">
                  <a:moveTo>
                    <a:pt x="0" y="131699"/>
                  </a:moveTo>
                  <a:cubicBezTo>
                    <a:pt x="0" y="58928"/>
                    <a:pt x="58928" y="0"/>
                    <a:pt x="131699" y="0"/>
                  </a:cubicBezTo>
                  <a:cubicBezTo>
                    <a:pt x="204470" y="0"/>
                    <a:pt x="263398" y="58928"/>
                    <a:pt x="263398" y="131699"/>
                  </a:cubicBezTo>
                  <a:cubicBezTo>
                    <a:pt x="263398" y="204470"/>
                    <a:pt x="204343" y="263398"/>
                    <a:pt x="131699" y="263398"/>
                  </a:cubicBezTo>
                  <a:cubicBezTo>
                    <a:pt x="59055" y="263398"/>
                    <a:pt x="0" y="204343"/>
                    <a:pt x="0" y="131699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98196" y="4914167"/>
            <a:ext cx="6520196" cy="494167"/>
            <a:chOff x="0" y="0"/>
            <a:chExt cx="8693594" cy="65888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693592" cy="658883"/>
            </a:xfrm>
            <a:custGeom>
              <a:avLst/>
              <a:gdLst/>
              <a:ahLst/>
              <a:cxnLst/>
              <a:rect r="r" b="b" t="t" l="l"/>
              <a:pathLst>
                <a:path h="658883" w="8693592">
                  <a:moveTo>
                    <a:pt x="0" y="0"/>
                  </a:moveTo>
                  <a:lnTo>
                    <a:pt x="8693592" y="0"/>
                  </a:lnTo>
                  <a:lnTo>
                    <a:pt x="869359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093" r="0" b="-20709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8693594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>
                  <a:solidFill>
                    <a:srgbClr val="F4F8FB"/>
                  </a:solidFill>
                  <a:latin typeface="Aptos"/>
                  <a:ea typeface="Aptos"/>
                  <a:cs typeface="Aptos"/>
                  <a:sym typeface="Aptos"/>
                </a:rPr>
                <a:t>Нет единого поиска по русскому, казахскому и английскому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59230" y="5700789"/>
            <a:ext cx="197510" cy="197510"/>
            <a:chOff x="0" y="0"/>
            <a:chExt cx="263347" cy="26334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3398" cy="263398"/>
            </a:xfrm>
            <a:custGeom>
              <a:avLst/>
              <a:gdLst/>
              <a:ahLst/>
              <a:cxnLst/>
              <a:rect r="r" b="b" t="t" l="l"/>
              <a:pathLst>
                <a:path h="263398" w="263398">
                  <a:moveTo>
                    <a:pt x="0" y="131699"/>
                  </a:moveTo>
                  <a:cubicBezTo>
                    <a:pt x="0" y="58928"/>
                    <a:pt x="58928" y="0"/>
                    <a:pt x="131699" y="0"/>
                  </a:cubicBezTo>
                  <a:cubicBezTo>
                    <a:pt x="204470" y="0"/>
                    <a:pt x="263398" y="58928"/>
                    <a:pt x="263398" y="131699"/>
                  </a:cubicBezTo>
                  <a:cubicBezTo>
                    <a:pt x="263398" y="204470"/>
                    <a:pt x="204343" y="263398"/>
                    <a:pt x="131699" y="263398"/>
                  </a:cubicBezTo>
                  <a:cubicBezTo>
                    <a:pt x="59055" y="263398"/>
                    <a:pt x="0" y="204343"/>
                    <a:pt x="0" y="131699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798196" y="5641686"/>
            <a:ext cx="6520196" cy="494167"/>
            <a:chOff x="0" y="0"/>
            <a:chExt cx="8693594" cy="65888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693592" cy="658883"/>
            </a:xfrm>
            <a:custGeom>
              <a:avLst/>
              <a:gdLst/>
              <a:ahLst/>
              <a:cxnLst/>
              <a:rect r="r" b="b" t="t" l="l"/>
              <a:pathLst>
                <a:path h="658883" w="8693592">
                  <a:moveTo>
                    <a:pt x="0" y="0"/>
                  </a:moveTo>
                  <a:lnTo>
                    <a:pt x="8693592" y="0"/>
                  </a:lnTo>
                  <a:lnTo>
                    <a:pt x="869359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093" r="0" b="-20709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8693594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>
                  <a:solidFill>
                    <a:srgbClr val="F4F8FB"/>
                  </a:solidFill>
                  <a:latin typeface="Aptos"/>
                  <a:ea typeface="Aptos"/>
                  <a:cs typeface="Aptos"/>
                  <a:sym typeface="Aptos"/>
                </a:rPr>
                <a:t>Сложно быстро сравнить клиники по цене и городу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59230" y="6428299"/>
            <a:ext cx="197510" cy="197510"/>
            <a:chOff x="0" y="0"/>
            <a:chExt cx="263347" cy="26334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63398" cy="263398"/>
            </a:xfrm>
            <a:custGeom>
              <a:avLst/>
              <a:gdLst/>
              <a:ahLst/>
              <a:cxnLst/>
              <a:rect r="r" b="b" t="t" l="l"/>
              <a:pathLst>
                <a:path h="263398" w="263398">
                  <a:moveTo>
                    <a:pt x="0" y="131699"/>
                  </a:moveTo>
                  <a:cubicBezTo>
                    <a:pt x="0" y="58928"/>
                    <a:pt x="58928" y="0"/>
                    <a:pt x="131699" y="0"/>
                  </a:cubicBezTo>
                  <a:cubicBezTo>
                    <a:pt x="204470" y="0"/>
                    <a:pt x="263398" y="58928"/>
                    <a:pt x="263398" y="131699"/>
                  </a:cubicBezTo>
                  <a:cubicBezTo>
                    <a:pt x="263398" y="204470"/>
                    <a:pt x="204343" y="263398"/>
                    <a:pt x="131699" y="263398"/>
                  </a:cubicBezTo>
                  <a:cubicBezTo>
                    <a:pt x="59055" y="263398"/>
                    <a:pt x="0" y="204343"/>
                    <a:pt x="0" y="131699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98196" y="6369196"/>
            <a:ext cx="6520196" cy="494167"/>
            <a:chOff x="0" y="0"/>
            <a:chExt cx="8693594" cy="65888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693592" cy="658883"/>
            </a:xfrm>
            <a:custGeom>
              <a:avLst/>
              <a:gdLst/>
              <a:ahLst/>
              <a:cxnLst/>
              <a:rect r="r" b="b" t="t" l="l"/>
              <a:pathLst>
                <a:path h="658883" w="8693592">
                  <a:moveTo>
                    <a:pt x="0" y="0"/>
                  </a:moveTo>
                  <a:lnTo>
                    <a:pt x="8693592" y="0"/>
                  </a:lnTo>
                  <a:lnTo>
                    <a:pt x="869359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093" r="0" b="-20709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9525"/>
              <a:ext cx="8693594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>
                  <a:solidFill>
                    <a:srgbClr val="F4F8FB"/>
                  </a:solidFill>
                  <a:latin typeface="Aptos"/>
                  <a:ea typeface="Aptos"/>
                  <a:cs typeface="Aptos"/>
                  <a:sym typeface="Aptos"/>
                </a:rPr>
                <a:t>Прайсы устаревают, источник надо видеть явно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256004" y="4739916"/>
            <a:ext cx="911304" cy="774030"/>
            <a:chOff x="0" y="0"/>
            <a:chExt cx="1215072" cy="10320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15009" cy="1032002"/>
            </a:xfrm>
            <a:custGeom>
              <a:avLst/>
              <a:gdLst/>
              <a:ahLst/>
              <a:cxnLst/>
              <a:rect r="r" b="b" t="t" l="l"/>
              <a:pathLst>
                <a:path h="1032002" w="1215009">
                  <a:moveTo>
                    <a:pt x="0" y="0"/>
                  </a:moveTo>
                  <a:lnTo>
                    <a:pt x="699008" y="0"/>
                  </a:lnTo>
                  <a:lnTo>
                    <a:pt x="1215009" y="516001"/>
                  </a:lnTo>
                  <a:lnTo>
                    <a:pt x="699008" y="1032002"/>
                  </a:lnTo>
                  <a:lnTo>
                    <a:pt x="0" y="1032002"/>
                  </a:lnTo>
                  <a:lnTo>
                    <a:pt x="516001" y="516001"/>
                  </a:lnTo>
                  <a:close/>
                </a:path>
              </a:pathLst>
            </a:custGeom>
            <a:solidFill>
              <a:srgbClr val="39B6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450230" y="2488730"/>
            <a:ext cx="6813794" cy="6401991"/>
            <a:chOff x="0" y="0"/>
            <a:chExt cx="9085059" cy="85359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085072" cy="8536051"/>
            </a:xfrm>
            <a:custGeom>
              <a:avLst/>
              <a:gdLst/>
              <a:ahLst/>
              <a:cxnLst/>
              <a:rect r="r" b="b" t="t" l="l"/>
              <a:pathLst>
                <a:path h="8536051" w="9085072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8864727" y="0"/>
                  </a:lnTo>
                  <a:cubicBezTo>
                    <a:pt x="8986393" y="0"/>
                    <a:pt x="9085072" y="98679"/>
                    <a:pt x="9085072" y="220345"/>
                  </a:cubicBezTo>
                  <a:lnTo>
                    <a:pt x="9085072" y="8315706"/>
                  </a:lnTo>
                  <a:cubicBezTo>
                    <a:pt x="9085072" y="8437373"/>
                    <a:pt x="8986393" y="8536051"/>
                    <a:pt x="8864727" y="8536051"/>
                  </a:cubicBezTo>
                  <a:lnTo>
                    <a:pt x="220345" y="8536051"/>
                  </a:lnTo>
                  <a:cubicBezTo>
                    <a:pt x="98679" y="8536051"/>
                    <a:pt x="0" y="8437372"/>
                    <a:pt x="0" y="8315706"/>
                  </a:cubicBezTo>
                  <a:close/>
                </a:path>
              </a:pathLst>
            </a:custGeom>
            <a:solidFill>
              <a:srgbClr val="0D1F30"/>
            </a:solidFill>
            <a:ln w="19065" cap="sq">
              <a:solidFill>
                <a:srgbClr val="2A5B71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0926470" y="2855157"/>
            <a:ext cx="5833853" cy="754971"/>
            <a:chOff x="0" y="0"/>
            <a:chExt cx="7778471" cy="100662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778477" cy="1006626"/>
            </a:xfrm>
            <a:custGeom>
              <a:avLst/>
              <a:gdLst/>
              <a:ahLst/>
              <a:cxnLst/>
              <a:rect r="r" b="b" t="t" l="l"/>
              <a:pathLst>
                <a:path h="1006626" w="7778477">
                  <a:moveTo>
                    <a:pt x="0" y="0"/>
                  </a:moveTo>
                  <a:lnTo>
                    <a:pt x="7778477" y="0"/>
                  </a:lnTo>
                  <a:lnTo>
                    <a:pt x="7778477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9525"/>
              <a:ext cx="7778471" cy="997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MedServicePrice — один экран для сравнения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971848" y="4245750"/>
            <a:ext cx="197510" cy="197510"/>
            <a:chOff x="0" y="0"/>
            <a:chExt cx="263347" cy="26334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63398" cy="263398"/>
            </a:xfrm>
            <a:custGeom>
              <a:avLst/>
              <a:gdLst/>
              <a:ahLst/>
              <a:cxnLst/>
              <a:rect r="r" b="b" t="t" l="l"/>
              <a:pathLst>
                <a:path h="263398" w="263398">
                  <a:moveTo>
                    <a:pt x="0" y="131699"/>
                  </a:moveTo>
                  <a:cubicBezTo>
                    <a:pt x="0" y="58928"/>
                    <a:pt x="58928" y="0"/>
                    <a:pt x="131699" y="0"/>
                  </a:cubicBezTo>
                  <a:cubicBezTo>
                    <a:pt x="204470" y="0"/>
                    <a:pt x="263398" y="58928"/>
                    <a:pt x="263398" y="131699"/>
                  </a:cubicBezTo>
                  <a:cubicBezTo>
                    <a:pt x="263398" y="204470"/>
                    <a:pt x="204343" y="263398"/>
                    <a:pt x="131699" y="263398"/>
                  </a:cubicBezTo>
                  <a:cubicBezTo>
                    <a:pt x="59055" y="263398"/>
                    <a:pt x="0" y="204343"/>
                    <a:pt x="0" y="131699"/>
                  </a:cubicBezTo>
                  <a:close/>
                </a:path>
              </a:pathLst>
            </a:custGeom>
            <a:solidFill>
              <a:srgbClr val="79F2A4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310823" y="4186647"/>
            <a:ext cx="5353421" cy="494167"/>
            <a:chOff x="0" y="0"/>
            <a:chExt cx="7137895" cy="65888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137897" cy="658883"/>
            </a:xfrm>
            <a:custGeom>
              <a:avLst/>
              <a:gdLst/>
              <a:ahLst/>
              <a:cxnLst/>
              <a:rect r="r" b="b" t="t" l="l"/>
              <a:pathLst>
                <a:path h="658883" w="7137897">
                  <a:moveTo>
                    <a:pt x="0" y="0"/>
                  </a:moveTo>
                  <a:lnTo>
                    <a:pt x="7137897" y="0"/>
                  </a:lnTo>
                  <a:lnTo>
                    <a:pt x="7137897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9525"/>
              <a:ext cx="7137895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>
                  <a:solidFill>
                    <a:srgbClr val="F4F8FB"/>
                  </a:solidFill>
                  <a:latin typeface="Aptos"/>
                  <a:ea typeface="Aptos"/>
                  <a:cs typeface="Aptos"/>
                  <a:sym typeface="Aptos"/>
                </a:rPr>
                <a:t>Парсинг публичных источников и PDF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971848" y="4973269"/>
            <a:ext cx="197510" cy="197510"/>
            <a:chOff x="0" y="0"/>
            <a:chExt cx="263347" cy="26334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63398" cy="263398"/>
            </a:xfrm>
            <a:custGeom>
              <a:avLst/>
              <a:gdLst/>
              <a:ahLst/>
              <a:cxnLst/>
              <a:rect r="r" b="b" t="t" l="l"/>
              <a:pathLst>
                <a:path h="263398" w="263398">
                  <a:moveTo>
                    <a:pt x="0" y="131699"/>
                  </a:moveTo>
                  <a:cubicBezTo>
                    <a:pt x="0" y="58928"/>
                    <a:pt x="58928" y="0"/>
                    <a:pt x="131699" y="0"/>
                  </a:cubicBezTo>
                  <a:cubicBezTo>
                    <a:pt x="204470" y="0"/>
                    <a:pt x="263398" y="58928"/>
                    <a:pt x="263398" y="131699"/>
                  </a:cubicBezTo>
                  <a:cubicBezTo>
                    <a:pt x="263398" y="204470"/>
                    <a:pt x="204343" y="263398"/>
                    <a:pt x="131699" y="263398"/>
                  </a:cubicBezTo>
                  <a:cubicBezTo>
                    <a:pt x="59055" y="263398"/>
                    <a:pt x="0" y="204343"/>
                    <a:pt x="0" y="131699"/>
                  </a:cubicBezTo>
                  <a:close/>
                </a:path>
              </a:pathLst>
            </a:custGeom>
            <a:solidFill>
              <a:srgbClr val="79F2A4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310823" y="4914167"/>
            <a:ext cx="5353421" cy="494167"/>
            <a:chOff x="0" y="0"/>
            <a:chExt cx="7137895" cy="65888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137897" cy="658883"/>
            </a:xfrm>
            <a:custGeom>
              <a:avLst/>
              <a:gdLst/>
              <a:ahLst/>
              <a:cxnLst/>
              <a:rect r="r" b="b" t="t" l="l"/>
              <a:pathLst>
                <a:path h="658883" w="7137897">
                  <a:moveTo>
                    <a:pt x="0" y="0"/>
                  </a:moveTo>
                  <a:lnTo>
                    <a:pt x="7137897" y="0"/>
                  </a:lnTo>
                  <a:lnTo>
                    <a:pt x="7137897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9525"/>
              <a:ext cx="7137895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>
                  <a:solidFill>
                    <a:srgbClr val="F4F8FB"/>
                  </a:solidFill>
                  <a:latin typeface="Aptos"/>
                  <a:ea typeface="Aptos"/>
                  <a:cs typeface="Aptos"/>
                  <a:sym typeface="Aptos"/>
                </a:rPr>
                <a:t>Канонический справочник услуг RU/KZ/EN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971848" y="5700789"/>
            <a:ext cx="197510" cy="197510"/>
            <a:chOff x="0" y="0"/>
            <a:chExt cx="263347" cy="26334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63398" cy="263398"/>
            </a:xfrm>
            <a:custGeom>
              <a:avLst/>
              <a:gdLst/>
              <a:ahLst/>
              <a:cxnLst/>
              <a:rect r="r" b="b" t="t" l="l"/>
              <a:pathLst>
                <a:path h="263398" w="263398">
                  <a:moveTo>
                    <a:pt x="0" y="131699"/>
                  </a:moveTo>
                  <a:cubicBezTo>
                    <a:pt x="0" y="58928"/>
                    <a:pt x="58928" y="0"/>
                    <a:pt x="131699" y="0"/>
                  </a:cubicBezTo>
                  <a:cubicBezTo>
                    <a:pt x="204470" y="0"/>
                    <a:pt x="263398" y="58928"/>
                    <a:pt x="263398" y="131699"/>
                  </a:cubicBezTo>
                  <a:cubicBezTo>
                    <a:pt x="263398" y="204470"/>
                    <a:pt x="204343" y="263398"/>
                    <a:pt x="131699" y="263398"/>
                  </a:cubicBezTo>
                  <a:cubicBezTo>
                    <a:pt x="59055" y="263398"/>
                    <a:pt x="0" y="204343"/>
                    <a:pt x="0" y="131699"/>
                  </a:cubicBezTo>
                  <a:close/>
                </a:path>
              </a:pathLst>
            </a:custGeom>
            <a:solidFill>
              <a:srgbClr val="79F2A4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1310823" y="5641686"/>
            <a:ext cx="5353421" cy="494167"/>
            <a:chOff x="0" y="0"/>
            <a:chExt cx="7137895" cy="65888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37897" cy="658883"/>
            </a:xfrm>
            <a:custGeom>
              <a:avLst/>
              <a:gdLst/>
              <a:ahLst/>
              <a:cxnLst/>
              <a:rect r="r" b="b" t="t" l="l"/>
              <a:pathLst>
                <a:path h="658883" w="7137897">
                  <a:moveTo>
                    <a:pt x="0" y="0"/>
                  </a:moveTo>
                  <a:lnTo>
                    <a:pt x="7137897" y="0"/>
                  </a:lnTo>
                  <a:lnTo>
                    <a:pt x="7137897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9525"/>
              <a:ext cx="7137895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>
                  <a:solidFill>
                    <a:srgbClr val="F4F8FB"/>
                  </a:solidFill>
                  <a:latin typeface="Aptos"/>
                  <a:ea typeface="Aptos"/>
                  <a:cs typeface="Aptos"/>
                  <a:sym typeface="Aptos"/>
                </a:rPr>
                <a:t>Фильтры по городу, категории, цене и свежести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971848" y="6428299"/>
            <a:ext cx="197510" cy="197510"/>
            <a:chOff x="0" y="0"/>
            <a:chExt cx="263347" cy="26334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63398" cy="263398"/>
            </a:xfrm>
            <a:custGeom>
              <a:avLst/>
              <a:gdLst/>
              <a:ahLst/>
              <a:cxnLst/>
              <a:rect r="r" b="b" t="t" l="l"/>
              <a:pathLst>
                <a:path h="263398" w="263398">
                  <a:moveTo>
                    <a:pt x="0" y="131699"/>
                  </a:moveTo>
                  <a:cubicBezTo>
                    <a:pt x="0" y="58928"/>
                    <a:pt x="58928" y="0"/>
                    <a:pt x="131699" y="0"/>
                  </a:cubicBezTo>
                  <a:cubicBezTo>
                    <a:pt x="204470" y="0"/>
                    <a:pt x="263398" y="58928"/>
                    <a:pt x="263398" y="131699"/>
                  </a:cubicBezTo>
                  <a:cubicBezTo>
                    <a:pt x="263398" y="204470"/>
                    <a:pt x="204343" y="263398"/>
                    <a:pt x="131699" y="263398"/>
                  </a:cubicBezTo>
                  <a:cubicBezTo>
                    <a:pt x="59055" y="263398"/>
                    <a:pt x="0" y="204343"/>
                    <a:pt x="0" y="131699"/>
                  </a:cubicBezTo>
                  <a:close/>
                </a:path>
              </a:pathLst>
            </a:custGeom>
            <a:solidFill>
              <a:srgbClr val="79F2A4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310823" y="6369196"/>
            <a:ext cx="5353421" cy="494167"/>
            <a:chOff x="0" y="0"/>
            <a:chExt cx="7137895" cy="65888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137897" cy="658883"/>
            </a:xfrm>
            <a:custGeom>
              <a:avLst/>
              <a:gdLst/>
              <a:ahLst/>
              <a:cxnLst/>
              <a:rect r="r" b="b" t="t" l="l"/>
              <a:pathLst>
                <a:path h="658883" w="7137897">
                  <a:moveTo>
                    <a:pt x="0" y="0"/>
                  </a:moveTo>
                  <a:lnTo>
                    <a:pt x="7137897" y="0"/>
                  </a:lnTo>
                  <a:lnTo>
                    <a:pt x="7137897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9525"/>
              <a:ext cx="7137895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>
                  <a:solidFill>
                    <a:srgbClr val="F4F8FB"/>
                  </a:solidFill>
                  <a:latin typeface="Aptos"/>
                  <a:ea typeface="Aptos"/>
                  <a:cs typeface="Aptos"/>
                  <a:sym typeface="Aptos"/>
                </a:rPr>
                <a:t>Карты 2GIS / Google / Yandex для каждой клиники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7798910" y="9901504"/>
            <a:ext cx="1018061" cy="35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EA4BC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906" y="9805073"/>
            <a:ext cx="17383373" cy="19069"/>
            <a:chOff x="0" y="0"/>
            <a:chExt cx="23177830" cy="25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77881" cy="25400"/>
            </a:xfrm>
            <a:custGeom>
              <a:avLst/>
              <a:gdLst/>
              <a:ahLst/>
              <a:cxnLst/>
              <a:rect r="r" b="b" t="t" l="l"/>
              <a:pathLst>
                <a:path h="25400" w="23177881">
                  <a:moveTo>
                    <a:pt x="0" y="0"/>
                  </a:moveTo>
                  <a:lnTo>
                    <a:pt x="2317788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7730300" r="0" b="-17730400"/>
              </a:stretch>
            </a:blipFill>
            <a:ln w="19065" cap="sq">
              <a:solidFill>
                <a:srgbClr val="1B2A3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9855784"/>
            <a:ext cx="4118019" cy="219627"/>
            <a:chOff x="0" y="0"/>
            <a:chExt cx="549069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90690" cy="292837"/>
            </a:xfrm>
            <a:custGeom>
              <a:avLst/>
              <a:gdLst/>
              <a:ahLst/>
              <a:cxnLst/>
              <a:rect r="r" b="b" t="t" l="l"/>
              <a:pathLst>
                <a:path h="292837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490693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8EA4BC"/>
                  </a:solidFill>
                  <a:latin typeface="Aptos"/>
                  <a:ea typeface="Aptos"/>
                  <a:cs typeface="Aptos"/>
                  <a:sym typeface="Aptos"/>
                </a:rPr>
                <a:t>MedServicePrice.kz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44431" y="9855784"/>
            <a:ext cx="3225784" cy="219627"/>
            <a:chOff x="0" y="0"/>
            <a:chExt cx="4301046" cy="2928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01040" cy="292837"/>
            </a:xfrm>
            <a:custGeom>
              <a:avLst/>
              <a:gdLst/>
              <a:ahLst/>
              <a:cxnLst/>
              <a:rect r="r" b="b" t="t" l="l"/>
              <a:pathLst>
                <a:path h="292837" w="4301040">
                  <a:moveTo>
                    <a:pt x="0" y="0"/>
                  </a:moveTo>
                  <a:lnTo>
                    <a:pt x="4301040" y="0"/>
                  </a:lnTo>
                  <a:lnTo>
                    <a:pt x="430104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4301046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70"/>
                </a:lnSpc>
              </a:pPr>
              <a:r>
                <a:rPr lang="en-US" sz="975">
                  <a:solidFill>
                    <a:srgbClr val="8EA4BC"/>
                  </a:solidFill>
                  <a:latin typeface="Aptos"/>
                  <a:ea typeface="Aptos"/>
                  <a:cs typeface="Aptos"/>
                  <a:sym typeface="Aptos"/>
                </a:rPr>
                <a:t>MiMo Code · Hackathon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8111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900000">
            <a:off x="-1803540" y="-1529001"/>
            <a:ext cx="5803354" cy="5803354"/>
            <a:chOff x="0" y="0"/>
            <a:chExt cx="7737805" cy="77378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solidFill>
              <a:srgbClr val="39B6FF">
                <a:alpha val="0"/>
              </a:srgbClr>
            </a:solidFill>
            <a:ln w="38130" cap="sq">
              <a:solidFill>
                <a:srgbClr val="39B6FF"/>
              </a:solidFill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solidFill>
              <a:srgbClr val="39B6FF">
                <a:alpha val="0"/>
              </a:srgbClr>
            </a:solidFill>
            <a:ln w="38130" cap="sq">
              <a:solidFill>
                <a:srgbClr val="39B6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1500000">
            <a:off x="14256725" y="6226597"/>
            <a:ext cx="5803354" cy="5803354"/>
            <a:chOff x="0" y="0"/>
            <a:chExt cx="7737805" cy="77378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solidFill>
              <a:srgbClr val="55E1D7">
                <a:alpha val="0"/>
              </a:srgbClr>
            </a:solidFill>
            <a:ln w="38130" cap="sq">
              <a:solidFill>
                <a:srgbClr val="55E1D7"/>
              </a:solidFill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solidFill>
              <a:srgbClr val="55E1D7">
                <a:alpha val="0"/>
              </a:srgbClr>
            </a:solidFill>
            <a:ln w="38130" cap="sq">
              <a:solidFill>
                <a:srgbClr val="55E1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92235" y="494167"/>
            <a:ext cx="11667715" cy="343167"/>
            <a:chOff x="0" y="0"/>
            <a:chExt cx="15556954" cy="4575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56954" cy="457557"/>
            </a:xfrm>
            <a:custGeom>
              <a:avLst/>
              <a:gdLst/>
              <a:ahLst/>
              <a:cxnLst/>
              <a:rect r="r" b="b" t="t" l="l"/>
              <a:pathLst>
                <a:path h="457557" w="15556954">
                  <a:moveTo>
                    <a:pt x="0" y="0"/>
                  </a:moveTo>
                  <a:lnTo>
                    <a:pt x="15556954" y="0"/>
                  </a:lnTo>
                  <a:lnTo>
                    <a:pt x="15556954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5556954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 b="true">
                  <a:solidFill>
                    <a:srgbClr val="55E1D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ГОТОВЫЙ MVP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51059" y="988324"/>
            <a:ext cx="14824862" cy="754971"/>
            <a:chOff x="0" y="0"/>
            <a:chExt cx="19766483" cy="10066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766483" cy="1006626"/>
            </a:xfrm>
            <a:custGeom>
              <a:avLst/>
              <a:gdLst/>
              <a:ahLst/>
              <a:cxnLst/>
              <a:rect r="r" b="b" t="t" l="l"/>
              <a:pathLst>
                <a:path h="1006626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615" r="0" b="-33261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9766483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3"/>
                </a:lnSpc>
              </a:pPr>
              <a:r>
                <a:rPr lang="en-US" sz="3752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Что уже реализовано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63641" y="1824514"/>
            <a:ext cx="1635766" cy="57198"/>
            <a:chOff x="0" y="0"/>
            <a:chExt cx="2181022" cy="762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80971" cy="76200"/>
            </a:xfrm>
            <a:custGeom>
              <a:avLst/>
              <a:gdLst/>
              <a:ahLst/>
              <a:cxnLst/>
              <a:rect r="r" b="b" t="t" l="l"/>
              <a:pathLst>
                <a:path h="76200" w="2180971">
                  <a:moveTo>
                    <a:pt x="0" y="0"/>
                  </a:moveTo>
                  <a:lnTo>
                    <a:pt x="2180971" y="762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507665" r="-2" b="-507748"/>
              </a:stretch>
            </a:blipFill>
            <a:ln w="57195" cap="sq">
              <a:solidFill>
                <a:srgbClr val="39B6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78789" y="2392642"/>
            <a:ext cx="3244844" cy="1638814"/>
            <a:chOff x="0" y="0"/>
            <a:chExt cx="4326458" cy="21850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26509" cy="2185162"/>
            </a:xfrm>
            <a:custGeom>
              <a:avLst/>
              <a:gdLst/>
              <a:ahLst/>
              <a:cxnLst/>
              <a:rect r="r" b="b" t="t" l="l"/>
              <a:pathLst>
                <a:path h="2185162" w="4326509">
                  <a:moveTo>
                    <a:pt x="0" y="222250"/>
                  </a:moveTo>
                  <a:cubicBezTo>
                    <a:pt x="0" y="99441"/>
                    <a:pt x="99441" y="0"/>
                    <a:pt x="222250" y="0"/>
                  </a:cubicBezTo>
                  <a:lnTo>
                    <a:pt x="4104259" y="0"/>
                  </a:lnTo>
                  <a:cubicBezTo>
                    <a:pt x="4226941" y="0"/>
                    <a:pt x="4326509" y="99441"/>
                    <a:pt x="4326509" y="222250"/>
                  </a:cubicBezTo>
                  <a:lnTo>
                    <a:pt x="4326509" y="1962912"/>
                  </a:lnTo>
                  <a:cubicBezTo>
                    <a:pt x="4326509" y="2085594"/>
                    <a:pt x="4227068" y="2185162"/>
                    <a:pt x="4104259" y="2185162"/>
                  </a:cubicBezTo>
                  <a:lnTo>
                    <a:pt x="222250" y="2185162"/>
                  </a:lnTo>
                  <a:cubicBezTo>
                    <a:pt x="99568" y="2185162"/>
                    <a:pt x="0" y="2085721"/>
                    <a:pt x="0" y="1962912"/>
                  </a:cubicBezTo>
                  <a:close/>
                </a:path>
              </a:pathLst>
            </a:custGeom>
            <a:solidFill>
              <a:srgbClr val="0D1B2B"/>
            </a:solidFill>
            <a:ln w="19065" cap="sq">
              <a:solidFill>
                <a:srgbClr val="213851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35402" y="2649255"/>
            <a:ext cx="2731618" cy="480431"/>
            <a:chOff x="0" y="0"/>
            <a:chExt cx="3642157" cy="6405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42158" cy="640580"/>
            </a:xfrm>
            <a:custGeom>
              <a:avLst/>
              <a:gdLst/>
              <a:ahLst/>
              <a:cxnLst/>
              <a:rect r="r" b="b" t="t" l="l"/>
              <a:pathLst>
                <a:path h="640580" w="3642158">
                  <a:moveTo>
                    <a:pt x="0" y="0"/>
                  </a:moveTo>
                  <a:lnTo>
                    <a:pt x="3642158" y="0"/>
                  </a:lnTo>
                  <a:lnTo>
                    <a:pt x="364215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86" r="0" b="-6078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642157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3"/>
                </a:lnSpc>
              </a:pPr>
              <a:r>
                <a:rPr lang="en-US" sz="3752" b="true">
                  <a:solidFill>
                    <a:srgbClr val="55E1D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13+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62863" y="3308137"/>
            <a:ext cx="2704167" cy="439255"/>
            <a:chOff x="0" y="0"/>
            <a:chExt cx="3605555" cy="5856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05553" cy="585674"/>
            </a:xfrm>
            <a:custGeom>
              <a:avLst/>
              <a:gdLst/>
              <a:ahLst/>
              <a:cxnLst/>
              <a:rect r="r" b="b" t="t" l="l"/>
              <a:pathLst>
                <a:path h="585674" w="3605553">
                  <a:moveTo>
                    <a:pt x="0" y="0"/>
                  </a:moveTo>
                  <a:lnTo>
                    <a:pt x="3605553" y="0"/>
                  </a:lnTo>
                  <a:lnTo>
                    <a:pt x="360555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54" r="0" b="-6995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3605555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адаптеров для клиник и лабораторий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520289" y="2392642"/>
            <a:ext cx="3244844" cy="1638814"/>
            <a:chOff x="0" y="0"/>
            <a:chExt cx="4326458" cy="218508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26509" cy="2185162"/>
            </a:xfrm>
            <a:custGeom>
              <a:avLst/>
              <a:gdLst/>
              <a:ahLst/>
              <a:cxnLst/>
              <a:rect r="r" b="b" t="t" l="l"/>
              <a:pathLst>
                <a:path h="2185162" w="4326509">
                  <a:moveTo>
                    <a:pt x="0" y="222250"/>
                  </a:moveTo>
                  <a:cubicBezTo>
                    <a:pt x="0" y="99441"/>
                    <a:pt x="99441" y="0"/>
                    <a:pt x="222250" y="0"/>
                  </a:cubicBezTo>
                  <a:lnTo>
                    <a:pt x="4104259" y="0"/>
                  </a:lnTo>
                  <a:cubicBezTo>
                    <a:pt x="4226941" y="0"/>
                    <a:pt x="4326509" y="99441"/>
                    <a:pt x="4326509" y="222250"/>
                  </a:cubicBezTo>
                  <a:lnTo>
                    <a:pt x="4326509" y="1962912"/>
                  </a:lnTo>
                  <a:cubicBezTo>
                    <a:pt x="4326509" y="2085594"/>
                    <a:pt x="4227068" y="2185162"/>
                    <a:pt x="4104259" y="2185162"/>
                  </a:cubicBezTo>
                  <a:lnTo>
                    <a:pt x="222250" y="2185162"/>
                  </a:lnTo>
                  <a:cubicBezTo>
                    <a:pt x="99568" y="2185162"/>
                    <a:pt x="0" y="2085721"/>
                    <a:pt x="0" y="1962912"/>
                  </a:cubicBezTo>
                  <a:close/>
                </a:path>
              </a:pathLst>
            </a:custGeom>
            <a:solidFill>
              <a:srgbClr val="0D1B2B"/>
            </a:solidFill>
            <a:ln w="19065" cap="sq">
              <a:solidFill>
                <a:srgbClr val="213851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4776902" y="2649255"/>
            <a:ext cx="2731618" cy="480431"/>
            <a:chOff x="0" y="0"/>
            <a:chExt cx="3642157" cy="6405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42158" cy="640580"/>
            </a:xfrm>
            <a:custGeom>
              <a:avLst/>
              <a:gdLst/>
              <a:ahLst/>
              <a:cxnLst/>
              <a:rect r="r" b="b" t="t" l="l"/>
              <a:pathLst>
                <a:path h="640580" w="3642158">
                  <a:moveTo>
                    <a:pt x="0" y="0"/>
                  </a:moveTo>
                  <a:lnTo>
                    <a:pt x="3642158" y="0"/>
                  </a:lnTo>
                  <a:lnTo>
                    <a:pt x="364215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86" r="0" b="-6078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3642157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3"/>
                </a:lnSpc>
              </a:pPr>
              <a:r>
                <a:rPr lang="en-US" sz="3752" b="true">
                  <a:solidFill>
                    <a:srgbClr val="79F2A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180+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804353" y="3308137"/>
            <a:ext cx="2704167" cy="439255"/>
            <a:chOff x="0" y="0"/>
            <a:chExt cx="3605555" cy="58567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05553" cy="585674"/>
            </a:xfrm>
            <a:custGeom>
              <a:avLst/>
              <a:gdLst/>
              <a:ahLst/>
              <a:cxnLst/>
              <a:rect r="r" b="b" t="t" l="l"/>
              <a:pathLst>
                <a:path h="585674" w="3605553">
                  <a:moveTo>
                    <a:pt x="0" y="0"/>
                  </a:moveTo>
                  <a:lnTo>
                    <a:pt x="3605553" y="0"/>
                  </a:lnTo>
                  <a:lnTo>
                    <a:pt x="360555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54" r="0" b="-6995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3605555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ценовых позиций по услугам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061779" y="2392642"/>
            <a:ext cx="3244844" cy="1638814"/>
            <a:chOff x="0" y="0"/>
            <a:chExt cx="4326458" cy="218508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26509" cy="2185162"/>
            </a:xfrm>
            <a:custGeom>
              <a:avLst/>
              <a:gdLst/>
              <a:ahLst/>
              <a:cxnLst/>
              <a:rect r="r" b="b" t="t" l="l"/>
              <a:pathLst>
                <a:path h="2185162" w="4326509">
                  <a:moveTo>
                    <a:pt x="0" y="222250"/>
                  </a:moveTo>
                  <a:cubicBezTo>
                    <a:pt x="0" y="99441"/>
                    <a:pt x="99441" y="0"/>
                    <a:pt x="222250" y="0"/>
                  </a:cubicBezTo>
                  <a:lnTo>
                    <a:pt x="4104259" y="0"/>
                  </a:lnTo>
                  <a:cubicBezTo>
                    <a:pt x="4226941" y="0"/>
                    <a:pt x="4326509" y="99441"/>
                    <a:pt x="4326509" y="222250"/>
                  </a:cubicBezTo>
                  <a:lnTo>
                    <a:pt x="4326509" y="1962912"/>
                  </a:lnTo>
                  <a:cubicBezTo>
                    <a:pt x="4326509" y="2085594"/>
                    <a:pt x="4227068" y="2185162"/>
                    <a:pt x="4104259" y="2185162"/>
                  </a:cubicBezTo>
                  <a:lnTo>
                    <a:pt x="222250" y="2185162"/>
                  </a:lnTo>
                  <a:cubicBezTo>
                    <a:pt x="99568" y="2185162"/>
                    <a:pt x="0" y="2085721"/>
                    <a:pt x="0" y="1962912"/>
                  </a:cubicBezTo>
                  <a:close/>
                </a:path>
              </a:pathLst>
            </a:custGeom>
            <a:solidFill>
              <a:srgbClr val="0D1B2B"/>
            </a:solidFill>
            <a:ln w="19065" cap="sq">
              <a:solidFill>
                <a:srgbClr val="213851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8318392" y="2649255"/>
            <a:ext cx="2731618" cy="480431"/>
            <a:chOff x="0" y="0"/>
            <a:chExt cx="3642157" cy="6405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42158" cy="640580"/>
            </a:xfrm>
            <a:custGeom>
              <a:avLst/>
              <a:gdLst/>
              <a:ahLst/>
              <a:cxnLst/>
              <a:rect r="r" b="b" t="t" l="l"/>
              <a:pathLst>
                <a:path h="640580" w="3642158">
                  <a:moveTo>
                    <a:pt x="0" y="0"/>
                  </a:moveTo>
                  <a:lnTo>
                    <a:pt x="3642158" y="0"/>
                  </a:lnTo>
                  <a:lnTo>
                    <a:pt x="364215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86" r="0" b="-6078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3642157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3"/>
                </a:lnSpc>
              </a:pPr>
              <a:r>
                <a:rPr lang="en-US" sz="3752" b="true">
                  <a:solidFill>
                    <a:srgbClr val="FFD1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345853" y="3308137"/>
            <a:ext cx="2704167" cy="439255"/>
            <a:chOff x="0" y="0"/>
            <a:chExt cx="3605555" cy="58567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05553" cy="585674"/>
            </a:xfrm>
            <a:custGeom>
              <a:avLst/>
              <a:gdLst/>
              <a:ahLst/>
              <a:cxnLst/>
              <a:rect r="r" b="b" t="t" l="l"/>
              <a:pathLst>
                <a:path h="585674" w="3605553">
                  <a:moveTo>
                    <a:pt x="0" y="0"/>
                  </a:moveTo>
                  <a:lnTo>
                    <a:pt x="3605553" y="0"/>
                  </a:lnTo>
                  <a:lnTo>
                    <a:pt x="360555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54" r="0" b="-6995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3605555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канонические услуги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603279" y="2392642"/>
            <a:ext cx="3244844" cy="1638814"/>
            <a:chOff x="0" y="0"/>
            <a:chExt cx="4326458" cy="218508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26509" cy="2185162"/>
            </a:xfrm>
            <a:custGeom>
              <a:avLst/>
              <a:gdLst/>
              <a:ahLst/>
              <a:cxnLst/>
              <a:rect r="r" b="b" t="t" l="l"/>
              <a:pathLst>
                <a:path h="2185162" w="4326509">
                  <a:moveTo>
                    <a:pt x="0" y="222250"/>
                  </a:moveTo>
                  <a:cubicBezTo>
                    <a:pt x="0" y="99441"/>
                    <a:pt x="99441" y="0"/>
                    <a:pt x="222250" y="0"/>
                  </a:cubicBezTo>
                  <a:lnTo>
                    <a:pt x="4104259" y="0"/>
                  </a:lnTo>
                  <a:cubicBezTo>
                    <a:pt x="4226941" y="0"/>
                    <a:pt x="4326509" y="99441"/>
                    <a:pt x="4326509" y="222250"/>
                  </a:cubicBezTo>
                  <a:lnTo>
                    <a:pt x="4326509" y="1962912"/>
                  </a:lnTo>
                  <a:cubicBezTo>
                    <a:pt x="4326509" y="2085594"/>
                    <a:pt x="4227068" y="2185162"/>
                    <a:pt x="4104259" y="2185162"/>
                  </a:cubicBezTo>
                  <a:lnTo>
                    <a:pt x="222250" y="2185162"/>
                  </a:lnTo>
                  <a:cubicBezTo>
                    <a:pt x="99568" y="2185162"/>
                    <a:pt x="0" y="2085721"/>
                    <a:pt x="0" y="1962912"/>
                  </a:cubicBezTo>
                  <a:close/>
                </a:path>
              </a:pathLst>
            </a:custGeom>
            <a:solidFill>
              <a:srgbClr val="0D1B2B"/>
            </a:solidFill>
            <a:ln w="19065" cap="sq">
              <a:solidFill>
                <a:srgbClr val="213851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1859892" y="2649255"/>
            <a:ext cx="2731618" cy="480431"/>
            <a:chOff x="0" y="0"/>
            <a:chExt cx="3642157" cy="64057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42158" cy="640580"/>
            </a:xfrm>
            <a:custGeom>
              <a:avLst/>
              <a:gdLst/>
              <a:ahLst/>
              <a:cxnLst/>
              <a:rect r="r" b="b" t="t" l="l"/>
              <a:pathLst>
                <a:path h="640580" w="3642158">
                  <a:moveTo>
                    <a:pt x="0" y="0"/>
                  </a:moveTo>
                  <a:lnTo>
                    <a:pt x="3642158" y="0"/>
                  </a:lnTo>
                  <a:lnTo>
                    <a:pt x="364215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86" r="0" b="-6078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642157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3"/>
                </a:lnSpc>
              </a:pPr>
              <a:r>
                <a:rPr lang="en-US" sz="3752" b="true">
                  <a:solidFill>
                    <a:srgbClr val="39B6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3+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887343" y="3308137"/>
            <a:ext cx="2704167" cy="439255"/>
            <a:chOff x="0" y="0"/>
            <a:chExt cx="3605555" cy="58567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05553" cy="585674"/>
            </a:xfrm>
            <a:custGeom>
              <a:avLst/>
              <a:gdLst/>
              <a:ahLst/>
              <a:cxnLst/>
              <a:rect r="r" b="b" t="t" l="l"/>
              <a:pathLst>
                <a:path h="585674" w="3605553">
                  <a:moveTo>
                    <a:pt x="0" y="0"/>
                  </a:moveTo>
                  <a:lnTo>
                    <a:pt x="3605553" y="0"/>
                  </a:lnTo>
                  <a:lnTo>
                    <a:pt x="360555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54" r="0" b="-6995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3605555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города Казахстана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78789" y="4588916"/>
            <a:ext cx="5097951" cy="3107579"/>
            <a:chOff x="0" y="0"/>
            <a:chExt cx="6797269" cy="414343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797294" cy="4143502"/>
            </a:xfrm>
            <a:custGeom>
              <a:avLst/>
              <a:gdLst/>
              <a:ahLst/>
              <a:cxnLst/>
              <a:rect r="r" b="b" t="t" l="l"/>
              <a:pathLst>
                <a:path h="4143502" w="6797294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576314" y="0"/>
                  </a:lnTo>
                  <a:cubicBezTo>
                    <a:pt x="6698361" y="0"/>
                    <a:pt x="6797294" y="98933"/>
                    <a:pt x="6797294" y="220980"/>
                  </a:cubicBezTo>
                  <a:lnTo>
                    <a:pt x="6797294" y="3922522"/>
                  </a:lnTo>
                  <a:cubicBezTo>
                    <a:pt x="6797294" y="4044569"/>
                    <a:pt x="6698361" y="4143502"/>
                    <a:pt x="6576314" y="4143502"/>
                  </a:cubicBezTo>
                  <a:lnTo>
                    <a:pt x="220980" y="4143502"/>
                  </a:lnTo>
                  <a:cubicBezTo>
                    <a:pt x="98933" y="4143502"/>
                    <a:pt x="0" y="4044569"/>
                    <a:pt x="0" y="3922522"/>
                  </a:cubicBezTo>
                  <a:close/>
                </a:path>
              </a:pathLst>
            </a:custGeom>
            <a:solidFill>
              <a:srgbClr val="0D1A2A"/>
            </a:solidFill>
            <a:ln w="19065" cap="sq">
              <a:solidFill>
                <a:srgbClr val="213851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372676" y="4969078"/>
            <a:ext cx="754971" cy="411804"/>
            <a:chOff x="0" y="0"/>
            <a:chExt cx="1006627" cy="5490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06626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4" t="0" r="-19984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100662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39B6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196274" y="4982804"/>
            <a:ext cx="3294412" cy="301990"/>
            <a:chOff x="0" y="0"/>
            <a:chExt cx="4392549" cy="40265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392552" cy="402651"/>
            </a:xfrm>
            <a:custGeom>
              <a:avLst/>
              <a:gdLst/>
              <a:ahLst/>
              <a:cxnLst/>
              <a:rect r="r" b="b" t="t" l="l"/>
              <a:pathLst>
                <a:path h="402651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3" r="0" b="-16256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4392549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Поиск и сравнение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72676" y="5724039"/>
            <a:ext cx="4049382" cy="988324"/>
            <a:chOff x="0" y="0"/>
            <a:chExt cx="5399176" cy="131776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99178" cy="1317765"/>
            </a:xfrm>
            <a:custGeom>
              <a:avLst/>
              <a:gdLst/>
              <a:ahLst/>
              <a:cxnLst/>
              <a:rect r="r" b="b" t="t" l="l"/>
              <a:pathLst>
                <a:path h="1317765" w="5399178">
                  <a:moveTo>
                    <a:pt x="0" y="0"/>
                  </a:moveTo>
                  <a:lnTo>
                    <a:pt x="5399178" y="0"/>
                  </a:lnTo>
                  <a:lnTo>
                    <a:pt x="5399178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34" r="0" b="-2983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5399176" cy="1317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Пользователь вводит “CBC”, “ОАК” или “Жалпы қан талдауы” — сервис приводит к одной услуге.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606750" y="4588916"/>
            <a:ext cx="5097951" cy="3107579"/>
            <a:chOff x="0" y="0"/>
            <a:chExt cx="6797269" cy="414343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797294" cy="4143502"/>
            </a:xfrm>
            <a:custGeom>
              <a:avLst/>
              <a:gdLst/>
              <a:ahLst/>
              <a:cxnLst/>
              <a:rect r="r" b="b" t="t" l="l"/>
              <a:pathLst>
                <a:path h="4143502" w="6797294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576314" y="0"/>
                  </a:lnTo>
                  <a:cubicBezTo>
                    <a:pt x="6698361" y="0"/>
                    <a:pt x="6797294" y="98933"/>
                    <a:pt x="6797294" y="220980"/>
                  </a:cubicBezTo>
                  <a:lnTo>
                    <a:pt x="6797294" y="3922522"/>
                  </a:lnTo>
                  <a:cubicBezTo>
                    <a:pt x="6797294" y="4044569"/>
                    <a:pt x="6698361" y="4143502"/>
                    <a:pt x="6576314" y="4143502"/>
                  </a:cubicBezTo>
                  <a:lnTo>
                    <a:pt x="220980" y="4143502"/>
                  </a:lnTo>
                  <a:cubicBezTo>
                    <a:pt x="98933" y="4143502"/>
                    <a:pt x="0" y="4044569"/>
                    <a:pt x="0" y="3922522"/>
                  </a:cubicBezTo>
                  <a:close/>
                </a:path>
              </a:pathLst>
            </a:custGeom>
            <a:solidFill>
              <a:srgbClr val="0D1A2A"/>
            </a:solidFill>
            <a:ln w="19065" cap="sq">
              <a:solidFill>
                <a:srgbClr val="213851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7000627" y="4969078"/>
            <a:ext cx="754971" cy="411804"/>
            <a:chOff x="0" y="0"/>
            <a:chExt cx="1006627" cy="54907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06626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4" t="0" r="-19984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100662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55E1D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824235" y="4982804"/>
            <a:ext cx="3294412" cy="301990"/>
            <a:chOff x="0" y="0"/>
            <a:chExt cx="4392549" cy="40265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392552" cy="402651"/>
            </a:xfrm>
            <a:custGeom>
              <a:avLst/>
              <a:gdLst/>
              <a:ahLst/>
              <a:cxnLst/>
              <a:rect r="r" b="b" t="t" l="l"/>
              <a:pathLst>
                <a:path h="402651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3" r="0" b="-16256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4392549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Автоимпорт данных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7000627" y="5724039"/>
            <a:ext cx="4049382" cy="988324"/>
            <a:chOff x="0" y="0"/>
            <a:chExt cx="5399176" cy="131776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399178" cy="1317765"/>
            </a:xfrm>
            <a:custGeom>
              <a:avLst/>
              <a:gdLst/>
              <a:ahLst/>
              <a:cxnLst/>
              <a:rect r="r" b="b" t="t" l="l"/>
              <a:pathLst>
                <a:path h="1317765" w="5399178">
                  <a:moveTo>
                    <a:pt x="0" y="0"/>
                  </a:moveTo>
                  <a:lnTo>
                    <a:pt x="5399178" y="0"/>
                  </a:lnTo>
                  <a:lnTo>
                    <a:pt x="5399178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34" r="0" b="-2983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5399176" cy="1317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При запуске Docker подтягиваются данные из источников, нормализуются и попадают в поиск.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234710" y="4588916"/>
            <a:ext cx="4754785" cy="3107579"/>
            <a:chOff x="0" y="0"/>
            <a:chExt cx="6339713" cy="414343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339713" cy="4143502"/>
            </a:xfrm>
            <a:custGeom>
              <a:avLst/>
              <a:gdLst/>
              <a:ahLst/>
              <a:cxnLst/>
              <a:rect r="r" b="b" t="t" l="l"/>
              <a:pathLst>
                <a:path h="4143502" w="6339713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118733" y="0"/>
                  </a:lnTo>
                  <a:cubicBezTo>
                    <a:pt x="6240780" y="0"/>
                    <a:pt x="6339713" y="98933"/>
                    <a:pt x="6339713" y="220980"/>
                  </a:cubicBezTo>
                  <a:lnTo>
                    <a:pt x="6339713" y="3922522"/>
                  </a:lnTo>
                  <a:cubicBezTo>
                    <a:pt x="6339713" y="4044569"/>
                    <a:pt x="6240780" y="4143502"/>
                    <a:pt x="6118733" y="4143502"/>
                  </a:cubicBezTo>
                  <a:lnTo>
                    <a:pt x="220980" y="4143502"/>
                  </a:lnTo>
                  <a:cubicBezTo>
                    <a:pt x="98933" y="4143502"/>
                    <a:pt x="0" y="4044569"/>
                    <a:pt x="0" y="3922522"/>
                  </a:cubicBezTo>
                  <a:close/>
                </a:path>
              </a:pathLst>
            </a:custGeom>
            <a:solidFill>
              <a:srgbClr val="0D1A2A"/>
            </a:solidFill>
            <a:ln w="19065" cap="sq">
              <a:solidFill>
                <a:srgbClr val="213851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2628588" y="4969078"/>
            <a:ext cx="754971" cy="411804"/>
            <a:chOff x="0" y="0"/>
            <a:chExt cx="1006627" cy="54907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06626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4" t="0" r="-19984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100662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79F2A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452186" y="4982804"/>
            <a:ext cx="3088510" cy="301990"/>
            <a:chOff x="0" y="0"/>
            <a:chExt cx="4118013" cy="40265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118017" cy="402651"/>
            </a:xfrm>
            <a:custGeom>
              <a:avLst/>
              <a:gdLst/>
              <a:ahLst/>
              <a:cxnLst/>
              <a:rect r="r" b="b" t="t" l="l"/>
              <a:pathLst>
                <a:path h="402651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411801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Карты и актуальность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628588" y="5724039"/>
            <a:ext cx="3774853" cy="988324"/>
            <a:chOff x="0" y="0"/>
            <a:chExt cx="5033137" cy="131776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033132" cy="1317765"/>
            </a:xfrm>
            <a:custGeom>
              <a:avLst/>
              <a:gdLst/>
              <a:ahLst/>
              <a:cxnLst/>
              <a:rect r="r" b="b" t="t" l="l"/>
              <a:pathLst>
                <a:path h="1317765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22" r="0" b="-2442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5033137" cy="1317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В карточке клиники есть карты, цена, город, источник и статус свежести записи.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17798910" y="9901504"/>
            <a:ext cx="1018061" cy="35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EA4BC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906" y="9805073"/>
            <a:ext cx="17383373" cy="19069"/>
            <a:chOff x="0" y="0"/>
            <a:chExt cx="23177830" cy="25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77881" cy="25400"/>
            </a:xfrm>
            <a:custGeom>
              <a:avLst/>
              <a:gdLst/>
              <a:ahLst/>
              <a:cxnLst/>
              <a:rect r="r" b="b" t="t" l="l"/>
              <a:pathLst>
                <a:path h="25400" w="23177881">
                  <a:moveTo>
                    <a:pt x="0" y="0"/>
                  </a:moveTo>
                  <a:lnTo>
                    <a:pt x="2317788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7730300" r="0" b="-17730400"/>
              </a:stretch>
            </a:blipFill>
            <a:ln w="19065" cap="sq">
              <a:solidFill>
                <a:srgbClr val="1B2A3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9855784"/>
            <a:ext cx="4118019" cy="219627"/>
            <a:chOff x="0" y="0"/>
            <a:chExt cx="549069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90690" cy="292837"/>
            </a:xfrm>
            <a:custGeom>
              <a:avLst/>
              <a:gdLst/>
              <a:ahLst/>
              <a:cxnLst/>
              <a:rect r="r" b="b" t="t" l="l"/>
              <a:pathLst>
                <a:path h="292837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490693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8EA4BC"/>
                  </a:solidFill>
                  <a:latin typeface="Aptos"/>
                  <a:ea typeface="Aptos"/>
                  <a:cs typeface="Aptos"/>
                  <a:sym typeface="Aptos"/>
                </a:rPr>
                <a:t>MedServicePrice.kz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44431" y="9855784"/>
            <a:ext cx="3225784" cy="219627"/>
            <a:chOff x="0" y="0"/>
            <a:chExt cx="4301046" cy="2928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01040" cy="292837"/>
            </a:xfrm>
            <a:custGeom>
              <a:avLst/>
              <a:gdLst/>
              <a:ahLst/>
              <a:cxnLst/>
              <a:rect r="r" b="b" t="t" l="l"/>
              <a:pathLst>
                <a:path h="292837" w="4301040">
                  <a:moveTo>
                    <a:pt x="0" y="0"/>
                  </a:moveTo>
                  <a:lnTo>
                    <a:pt x="4301040" y="0"/>
                  </a:lnTo>
                  <a:lnTo>
                    <a:pt x="430104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4301046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70"/>
                </a:lnSpc>
              </a:pPr>
              <a:r>
                <a:rPr lang="en-US" sz="975">
                  <a:solidFill>
                    <a:srgbClr val="8EA4BC"/>
                  </a:solidFill>
                  <a:latin typeface="Aptos"/>
                  <a:ea typeface="Aptos"/>
                  <a:cs typeface="Aptos"/>
                  <a:sym typeface="Aptos"/>
                </a:rPr>
                <a:t>MiMo Code · Hackathon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8111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900000">
            <a:off x="-1803540" y="-1529001"/>
            <a:ext cx="5803354" cy="5803354"/>
            <a:chOff x="0" y="0"/>
            <a:chExt cx="7737805" cy="77378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solidFill>
              <a:srgbClr val="39B6FF">
                <a:alpha val="0"/>
              </a:srgbClr>
            </a:solidFill>
            <a:ln w="38130" cap="sq">
              <a:solidFill>
                <a:srgbClr val="39B6FF"/>
              </a:solidFill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solidFill>
              <a:srgbClr val="39B6FF">
                <a:alpha val="0"/>
              </a:srgbClr>
            </a:solidFill>
            <a:ln w="38130" cap="sq">
              <a:solidFill>
                <a:srgbClr val="39B6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1500000">
            <a:off x="14256725" y="6226597"/>
            <a:ext cx="5803354" cy="5803354"/>
            <a:chOff x="0" y="0"/>
            <a:chExt cx="7737805" cy="77378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solidFill>
              <a:srgbClr val="55E1D7">
                <a:alpha val="0"/>
              </a:srgbClr>
            </a:solidFill>
            <a:ln w="38130" cap="sq">
              <a:solidFill>
                <a:srgbClr val="55E1D7"/>
              </a:solidFill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solidFill>
              <a:srgbClr val="55E1D7">
                <a:alpha val="0"/>
              </a:srgbClr>
            </a:solidFill>
            <a:ln w="38130" cap="sq">
              <a:solidFill>
                <a:srgbClr val="55E1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92235" y="494167"/>
            <a:ext cx="11667715" cy="343167"/>
            <a:chOff x="0" y="0"/>
            <a:chExt cx="15556954" cy="4575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56954" cy="457557"/>
            </a:xfrm>
            <a:custGeom>
              <a:avLst/>
              <a:gdLst/>
              <a:ahLst/>
              <a:cxnLst/>
              <a:rect r="r" b="b" t="t" l="l"/>
              <a:pathLst>
                <a:path h="457557" w="15556954">
                  <a:moveTo>
                    <a:pt x="0" y="0"/>
                  </a:moveTo>
                  <a:lnTo>
                    <a:pt x="15556954" y="0"/>
                  </a:lnTo>
                  <a:lnTo>
                    <a:pt x="15556954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5556954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 b="true">
                  <a:solidFill>
                    <a:srgbClr val="55E1D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СЦЕНАРИЙ ПОКАЗА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51059" y="988324"/>
            <a:ext cx="14824862" cy="754971"/>
            <a:chOff x="0" y="0"/>
            <a:chExt cx="19766483" cy="10066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766483" cy="1006626"/>
            </a:xfrm>
            <a:custGeom>
              <a:avLst/>
              <a:gdLst/>
              <a:ahLst/>
              <a:cxnLst/>
              <a:rect r="r" b="b" t="t" l="l"/>
              <a:pathLst>
                <a:path h="1006626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615" r="0" b="-33261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9766483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3"/>
                </a:lnSpc>
              </a:pPr>
              <a:r>
                <a:rPr lang="en-US" sz="3752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Демо за 2 минуты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63641" y="1824514"/>
            <a:ext cx="1635766" cy="57198"/>
            <a:chOff x="0" y="0"/>
            <a:chExt cx="2181022" cy="762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80971" cy="76200"/>
            </a:xfrm>
            <a:custGeom>
              <a:avLst/>
              <a:gdLst/>
              <a:ahLst/>
              <a:cxnLst/>
              <a:rect r="r" b="b" t="t" l="l"/>
              <a:pathLst>
                <a:path h="76200" w="2180971">
                  <a:moveTo>
                    <a:pt x="0" y="0"/>
                  </a:moveTo>
                  <a:lnTo>
                    <a:pt x="2180971" y="762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507665" r="-2" b="-507748"/>
              </a:stretch>
            </a:blipFill>
            <a:ln w="57195" cap="sq">
              <a:solidFill>
                <a:srgbClr val="39B6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78789" y="2790720"/>
            <a:ext cx="2874226" cy="5029324"/>
            <a:chOff x="0" y="0"/>
            <a:chExt cx="3832301" cy="670576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32352" cy="6705727"/>
            </a:xfrm>
            <a:custGeom>
              <a:avLst/>
              <a:gdLst/>
              <a:ahLst/>
              <a:cxnLst/>
              <a:rect r="r" b="b" t="t" l="l"/>
              <a:pathLst>
                <a:path h="6705727" w="3832352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3611245" y="0"/>
                  </a:lnTo>
                  <a:cubicBezTo>
                    <a:pt x="3733292" y="0"/>
                    <a:pt x="3832352" y="98933"/>
                    <a:pt x="3832352" y="221107"/>
                  </a:cubicBezTo>
                  <a:lnTo>
                    <a:pt x="3832352" y="6484620"/>
                  </a:lnTo>
                  <a:cubicBezTo>
                    <a:pt x="3832352" y="6606667"/>
                    <a:pt x="3733419" y="6705727"/>
                    <a:pt x="3611245" y="6705727"/>
                  </a:cubicBezTo>
                  <a:lnTo>
                    <a:pt x="221107" y="6705727"/>
                  </a:lnTo>
                  <a:cubicBezTo>
                    <a:pt x="98933" y="6705727"/>
                    <a:pt x="0" y="6606794"/>
                    <a:pt x="0" y="6484620"/>
                  </a:cubicBezTo>
                  <a:close/>
                </a:path>
              </a:pathLst>
            </a:custGeom>
            <a:solidFill>
              <a:srgbClr val="0D1A2A"/>
            </a:solidFill>
            <a:ln w="19065" cap="sq">
              <a:solidFill>
                <a:srgbClr val="243B5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843573" y="3229975"/>
            <a:ext cx="1144657" cy="1144657"/>
            <a:chOff x="0" y="0"/>
            <a:chExt cx="1526210" cy="15262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26286" cy="1526286"/>
            </a:xfrm>
            <a:custGeom>
              <a:avLst/>
              <a:gdLst/>
              <a:ahLst/>
              <a:cxnLst/>
              <a:rect r="r" b="b" t="t" l="l"/>
              <a:pathLst>
                <a:path h="1526286" w="1526286">
                  <a:moveTo>
                    <a:pt x="0" y="763143"/>
                  </a:moveTo>
                  <a:cubicBezTo>
                    <a:pt x="0" y="341630"/>
                    <a:pt x="341630" y="0"/>
                    <a:pt x="763143" y="0"/>
                  </a:cubicBezTo>
                  <a:cubicBezTo>
                    <a:pt x="1184656" y="0"/>
                    <a:pt x="1526286" y="341630"/>
                    <a:pt x="1526286" y="763143"/>
                  </a:cubicBezTo>
                  <a:cubicBezTo>
                    <a:pt x="1526286" y="1184656"/>
                    <a:pt x="1184656" y="1526286"/>
                    <a:pt x="763143" y="1526286"/>
                  </a:cubicBezTo>
                  <a:cubicBezTo>
                    <a:pt x="341630" y="1526286"/>
                    <a:pt x="0" y="1184529"/>
                    <a:pt x="0" y="763143"/>
                  </a:cubicBezTo>
                  <a:close/>
                </a:path>
              </a:pathLst>
            </a:custGeom>
            <a:solidFill>
              <a:srgbClr val="39B6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853108" y="3527765"/>
            <a:ext cx="1125588" cy="301990"/>
            <a:chOff x="0" y="0"/>
            <a:chExt cx="1500784" cy="40265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00789" cy="402651"/>
            </a:xfrm>
            <a:custGeom>
              <a:avLst/>
              <a:gdLst/>
              <a:ahLst/>
              <a:cxnLst/>
              <a:rect r="r" b="b" t="t" l="l"/>
              <a:pathLst>
                <a:path h="402651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25" r="0" b="-2262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50078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06111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90314" y="4735716"/>
            <a:ext cx="2223726" cy="494167"/>
            <a:chOff x="0" y="0"/>
            <a:chExt cx="2964967" cy="65888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64972" cy="658883"/>
            </a:xfrm>
            <a:custGeom>
              <a:avLst/>
              <a:gdLst/>
              <a:ahLst/>
              <a:cxnLst/>
              <a:rect r="r" b="b" t="t" l="l"/>
              <a:pathLst>
                <a:path h="658883" w="2964972">
                  <a:moveTo>
                    <a:pt x="0" y="0"/>
                  </a:moveTo>
                  <a:lnTo>
                    <a:pt x="2964972" y="0"/>
                  </a:lnTo>
                  <a:lnTo>
                    <a:pt x="296497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964967" cy="658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Открыть главную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35402" y="5833853"/>
            <a:ext cx="2361000" cy="603980"/>
            <a:chOff x="0" y="0"/>
            <a:chExt cx="3148000" cy="80530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47995" cy="805301"/>
            </a:xfrm>
            <a:custGeom>
              <a:avLst/>
              <a:gdLst/>
              <a:ahLst/>
              <a:cxnLst/>
              <a:rect r="r" b="b" t="t" l="l"/>
              <a:pathLst>
                <a:path h="805301" w="3147995">
                  <a:moveTo>
                    <a:pt x="0" y="0"/>
                  </a:moveTo>
                  <a:lnTo>
                    <a:pt x="3147995" y="0"/>
                  </a:lnTo>
                  <a:lnTo>
                    <a:pt x="3147995" y="805301"/>
                  </a:lnTo>
                  <a:lnTo>
                    <a:pt x="0" y="805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3148000" cy="805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http://localhost:3000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888857" y="4849730"/>
            <a:ext cx="458324" cy="623040"/>
            <a:chOff x="0" y="0"/>
            <a:chExt cx="611099" cy="830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1124" cy="830707"/>
            </a:xfrm>
            <a:custGeom>
              <a:avLst/>
              <a:gdLst/>
              <a:ahLst/>
              <a:cxnLst/>
              <a:rect r="r" b="b" t="t" l="l"/>
              <a:pathLst>
                <a:path h="830707" w="611124">
                  <a:moveTo>
                    <a:pt x="0" y="0"/>
                  </a:moveTo>
                  <a:lnTo>
                    <a:pt x="305562" y="0"/>
                  </a:lnTo>
                  <a:lnTo>
                    <a:pt x="611124" y="415417"/>
                  </a:lnTo>
                  <a:lnTo>
                    <a:pt x="305562" y="830707"/>
                  </a:lnTo>
                  <a:lnTo>
                    <a:pt x="0" y="830707"/>
                  </a:lnTo>
                  <a:lnTo>
                    <a:pt x="305562" y="415417"/>
                  </a:lnTo>
                  <a:close/>
                </a:path>
              </a:pathLst>
            </a:custGeom>
            <a:solidFill>
              <a:srgbClr val="2A456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341838" y="2790720"/>
            <a:ext cx="2874226" cy="5029324"/>
            <a:chOff x="0" y="0"/>
            <a:chExt cx="3832301" cy="670576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32352" cy="6705727"/>
            </a:xfrm>
            <a:custGeom>
              <a:avLst/>
              <a:gdLst/>
              <a:ahLst/>
              <a:cxnLst/>
              <a:rect r="r" b="b" t="t" l="l"/>
              <a:pathLst>
                <a:path h="6705727" w="3832352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3611245" y="0"/>
                  </a:lnTo>
                  <a:cubicBezTo>
                    <a:pt x="3733292" y="0"/>
                    <a:pt x="3832352" y="98933"/>
                    <a:pt x="3832352" y="221107"/>
                  </a:cubicBezTo>
                  <a:lnTo>
                    <a:pt x="3832352" y="6484620"/>
                  </a:lnTo>
                  <a:cubicBezTo>
                    <a:pt x="3832352" y="6606667"/>
                    <a:pt x="3733419" y="6705727"/>
                    <a:pt x="3611245" y="6705727"/>
                  </a:cubicBezTo>
                  <a:lnTo>
                    <a:pt x="221107" y="6705727"/>
                  </a:lnTo>
                  <a:cubicBezTo>
                    <a:pt x="98933" y="6705727"/>
                    <a:pt x="0" y="6606794"/>
                    <a:pt x="0" y="6484620"/>
                  </a:cubicBezTo>
                  <a:close/>
                </a:path>
              </a:pathLst>
            </a:custGeom>
            <a:solidFill>
              <a:srgbClr val="0D1A2A"/>
            </a:solidFill>
            <a:ln w="19065" cap="sq">
              <a:solidFill>
                <a:srgbClr val="243B54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5206622" y="3229975"/>
            <a:ext cx="1144657" cy="1144657"/>
            <a:chOff x="0" y="0"/>
            <a:chExt cx="1526210" cy="152621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26286" cy="1526286"/>
            </a:xfrm>
            <a:custGeom>
              <a:avLst/>
              <a:gdLst/>
              <a:ahLst/>
              <a:cxnLst/>
              <a:rect r="r" b="b" t="t" l="l"/>
              <a:pathLst>
                <a:path h="1526286" w="1526286">
                  <a:moveTo>
                    <a:pt x="0" y="763143"/>
                  </a:moveTo>
                  <a:cubicBezTo>
                    <a:pt x="0" y="341630"/>
                    <a:pt x="341630" y="0"/>
                    <a:pt x="763143" y="0"/>
                  </a:cubicBezTo>
                  <a:cubicBezTo>
                    <a:pt x="1184656" y="0"/>
                    <a:pt x="1526286" y="341630"/>
                    <a:pt x="1526286" y="763143"/>
                  </a:cubicBezTo>
                  <a:cubicBezTo>
                    <a:pt x="1526286" y="1184656"/>
                    <a:pt x="1184656" y="1526286"/>
                    <a:pt x="763143" y="1526286"/>
                  </a:cubicBezTo>
                  <a:cubicBezTo>
                    <a:pt x="341630" y="1526286"/>
                    <a:pt x="0" y="1184529"/>
                    <a:pt x="0" y="763143"/>
                  </a:cubicBezTo>
                  <a:close/>
                </a:path>
              </a:pathLst>
            </a:custGeom>
            <a:solidFill>
              <a:srgbClr val="55E1D7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216157" y="3527765"/>
            <a:ext cx="1125588" cy="301990"/>
            <a:chOff x="0" y="0"/>
            <a:chExt cx="1500784" cy="40265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00789" cy="402651"/>
            </a:xfrm>
            <a:custGeom>
              <a:avLst/>
              <a:gdLst/>
              <a:ahLst/>
              <a:cxnLst/>
              <a:rect r="r" b="b" t="t" l="l"/>
              <a:pathLst>
                <a:path h="402651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25" r="0" b="-2262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150078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06111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653363" y="4735716"/>
            <a:ext cx="2223726" cy="494167"/>
            <a:chOff x="0" y="0"/>
            <a:chExt cx="2964967" cy="65888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964972" cy="658883"/>
            </a:xfrm>
            <a:custGeom>
              <a:avLst/>
              <a:gdLst/>
              <a:ahLst/>
              <a:cxnLst/>
              <a:rect r="r" b="b" t="t" l="l"/>
              <a:pathLst>
                <a:path h="658883" w="2964972">
                  <a:moveTo>
                    <a:pt x="0" y="0"/>
                  </a:moveTo>
                  <a:lnTo>
                    <a:pt x="2964972" y="0"/>
                  </a:lnTo>
                  <a:lnTo>
                    <a:pt x="296497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2964967" cy="658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Ввести запрос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598451" y="5833853"/>
            <a:ext cx="2361000" cy="603980"/>
            <a:chOff x="0" y="0"/>
            <a:chExt cx="3148000" cy="80530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147995" cy="805301"/>
            </a:xfrm>
            <a:custGeom>
              <a:avLst/>
              <a:gdLst/>
              <a:ahLst/>
              <a:cxnLst/>
              <a:rect r="r" b="b" t="t" l="l"/>
              <a:pathLst>
                <a:path h="805301" w="3147995">
                  <a:moveTo>
                    <a:pt x="0" y="0"/>
                  </a:moveTo>
                  <a:lnTo>
                    <a:pt x="3147995" y="0"/>
                  </a:lnTo>
                  <a:lnTo>
                    <a:pt x="3147995" y="805301"/>
                  </a:lnTo>
                  <a:lnTo>
                    <a:pt x="0" y="805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148000" cy="805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“CBC” → “Общий анализ крови”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251906" y="4849730"/>
            <a:ext cx="458324" cy="623040"/>
            <a:chOff x="0" y="0"/>
            <a:chExt cx="611099" cy="830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11124" cy="830707"/>
            </a:xfrm>
            <a:custGeom>
              <a:avLst/>
              <a:gdLst/>
              <a:ahLst/>
              <a:cxnLst/>
              <a:rect r="r" b="b" t="t" l="l"/>
              <a:pathLst>
                <a:path h="830707" w="611124">
                  <a:moveTo>
                    <a:pt x="0" y="0"/>
                  </a:moveTo>
                  <a:lnTo>
                    <a:pt x="305562" y="0"/>
                  </a:lnTo>
                  <a:lnTo>
                    <a:pt x="611124" y="415417"/>
                  </a:lnTo>
                  <a:lnTo>
                    <a:pt x="305562" y="830707"/>
                  </a:lnTo>
                  <a:lnTo>
                    <a:pt x="0" y="830707"/>
                  </a:lnTo>
                  <a:lnTo>
                    <a:pt x="305562" y="415417"/>
                  </a:lnTo>
                  <a:close/>
                </a:path>
              </a:pathLst>
            </a:custGeom>
            <a:solidFill>
              <a:srgbClr val="2A4561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704887" y="2790720"/>
            <a:ext cx="2874226" cy="5029324"/>
            <a:chOff x="0" y="0"/>
            <a:chExt cx="3832301" cy="670576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832352" cy="6705727"/>
            </a:xfrm>
            <a:custGeom>
              <a:avLst/>
              <a:gdLst/>
              <a:ahLst/>
              <a:cxnLst/>
              <a:rect r="r" b="b" t="t" l="l"/>
              <a:pathLst>
                <a:path h="6705727" w="3832352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3611245" y="0"/>
                  </a:lnTo>
                  <a:cubicBezTo>
                    <a:pt x="3733292" y="0"/>
                    <a:pt x="3832352" y="98933"/>
                    <a:pt x="3832352" y="221107"/>
                  </a:cubicBezTo>
                  <a:lnTo>
                    <a:pt x="3832352" y="6484620"/>
                  </a:lnTo>
                  <a:cubicBezTo>
                    <a:pt x="3832352" y="6606667"/>
                    <a:pt x="3733419" y="6705727"/>
                    <a:pt x="3611245" y="6705727"/>
                  </a:cubicBezTo>
                  <a:lnTo>
                    <a:pt x="221107" y="6705727"/>
                  </a:lnTo>
                  <a:cubicBezTo>
                    <a:pt x="98933" y="6705727"/>
                    <a:pt x="0" y="6606794"/>
                    <a:pt x="0" y="6484620"/>
                  </a:cubicBezTo>
                  <a:close/>
                </a:path>
              </a:pathLst>
            </a:custGeom>
            <a:solidFill>
              <a:srgbClr val="0D1A2A"/>
            </a:solidFill>
            <a:ln w="19065" cap="sq">
              <a:solidFill>
                <a:srgbClr val="243B54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8569671" y="3229975"/>
            <a:ext cx="1144657" cy="1144657"/>
            <a:chOff x="0" y="0"/>
            <a:chExt cx="1526210" cy="152621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526286" cy="1526286"/>
            </a:xfrm>
            <a:custGeom>
              <a:avLst/>
              <a:gdLst/>
              <a:ahLst/>
              <a:cxnLst/>
              <a:rect r="r" b="b" t="t" l="l"/>
              <a:pathLst>
                <a:path h="1526286" w="1526286">
                  <a:moveTo>
                    <a:pt x="0" y="763143"/>
                  </a:moveTo>
                  <a:cubicBezTo>
                    <a:pt x="0" y="341630"/>
                    <a:pt x="341630" y="0"/>
                    <a:pt x="763143" y="0"/>
                  </a:cubicBezTo>
                  <a:cubicBezTo>
                    <a:pt x="1184656" y="0"/>
                    <a:pt x="1526286" y="341630"/>
                    <a:pt x="1526286" y="763143"/>
                  </a:cubicBezTo>
                  <a:cubicBezTo>
                    <a:pt x="1526286" y="1184656"/>
                    <a:pt x="1184656" y="1526286"/>
                    <a:pt x="763143" y="1526286"/>
                  </a:cubicBezTo>
                  <a:cubicBezTo>
                    <a:pt x="341630" y="1526286"/>
                    <a:pt x="0" y="1184529"/>
                    <a:pt x="0" y="763143"/>
                  </a:cubicBezTo>
                  <a:close/>
                </a:path>
              </a:pathLst>
            </a:custGeom>
            <a:solidFill>
              <a:srgbClr val="79F2A4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579206" y="3527765"/>
            <a:ext cx="1125588" cy="301990"/>
            <a:chOff x="0" y="0"/>
            <a:chExt cx="1500784" cy="40265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00789" cy="402651"/>
            </a:xfrm>
            <a:custGeom>
              <a:avLst/>
              <a:gdLst/>
              <a:ahLst/>
              <a:cxnLst/>
              <a:rect r="r" b="b" t="t" l="l"/>
              <a:pathLst>
                <a:path h="402651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25" r="0" b="-2262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150078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06111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016411" y="4735716"/>
            <a:ext cx="2223726" cy="494167"/>
            <a:chOff x="0" y="0"/>
            <a:chExt cx="2964967" cy="65888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964972" cy="658883"/>
            </a:xfrm>
            <a:custGeom>
              <a:avLst/>
              <a:gdLst/>
              <a:ahLst/>
              <a:cxnLst/>
              <a:rect r="r" b="b" t="t" l="l"/>
              <a:pathLst>
                <a:path h="658883" w="2964972">
                  <a:moveTo>
                    <a:pt x="0" y="0"/>
                  </a:moveTo>
                  <a:lnTo>
                    <a:pt x="2964972" y="0"/>
                  </a:lnTo>
                  <a:lnTo>
                    <a:pt x="296497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2964967" cy="658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Отфильтровать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961500" y="5833853"/>
            <a:ext cx="2361000" cy="603980"/>
            <a:chOff x="0" y="0"/>
            <a:chExt cx="3148000" cy="80530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147995" cy="805301"/>
            </a:xfrm>
            <a:custGeom>
              <a:avLst/>
              <a:gdLst/>
              <a:ahLst/>
              <a:cxnLst/>
              <a:rect r="r" b="b" t="t" l="l"/>
              <a:pathLst>
                <a:path h="805301" w="3147995">
                  <a:moveTo>
                    <a:pt x="0" y="0"/>
                  </a:moveTo>
                  <a:lnTo>
                    <a:pt x="3147995" y="0"/>
                  </a:lnTo>
                  <a:lnTo>
                    <a:pt x="3147995" y="805301"/>
                  </a:lnTo>
                  <a:lnTo>
                    <a:pt x="0" y="805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3148000" cy="805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город, категория, цена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614955" y="4849730"/>
            <a:ext cx="458324" cy="623040"/>
            <a:chOff x="0" y="0"/>
            <a:chExt cx="611099" cy="8307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11124" cy="830707"/>
            </a:xfrm>
            <a:custGeom>
              <a:avLst/>
              <a:gdLst/>
              <a:ahLst/>
              <a:cxnLst/>
              <a:rect r="r" b="b" t="t" l="l"/>
              <a:pathLst>
                <a:path h="830707" w="611124">
                  <a:moveTo>
                    <a:pt x="0" y="0"/>
                  </a:moveTo>
                  <a:lnTo>
                    <a:pt x="305562" y="0"/>
                  </a:lnTo>
                  <a:lnTo>
                    <a:pt x="611124" y="415417"/>
                  </a:lnTo>
                  <a:lnTo>
                    <a:pt x="305562" y="830707"/>
                  </a:lnTo>
                  <a:lnTo>
                    <a:pt x="0" y="830707"/>
                  </a:lnTo>
                  <a:lnTo>
                    <a:pt x="305562" y="415417"/>
                  </a:lnTo>
                  <a:close/>
                </a:path>
              </a:pathLst>
            </a:custGeom>
            <a:solidFill>
              <a:srgbClr val="2A4561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067936" y="2790720"/>
            <a:ext cx="2874226" cy="5029324"/>
            <a:chOff x="0" y="0"/>
            <a:chExt cx="3832301" cy="670576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832352" cy="6705727"/>
            </a:xfrm>
            <a:custGeom>
              <a:avLst/>
              <a:gdLst/>
              <a:ahLst/>
              <a:cxnLst/>
              <a:rect r="r" b="b" t="t" l="l"/>
              <a:pathLst>
                <a:path h="6705727" w="3832352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3611245" y="0"/>
                  </a:lnTo>
                  <a:cubicBezTo>
                    <a:pt x="3733292" y="0"/>
                    <a:pt x="3832352" y="98933"/>
                    <a:pt x="3832352" y="221107"/>
                  </a:cubicBezTo>
                  <a:lnTo>
                    <a:pt x="3832352" y="6484620"/>
                  </a:lnTo>
                  <a:cubicBezTo>
                    <a:pt x="3832352" y="6606667"/>
                    <a:pt x="3733419" y="6705727"/>
                    <a:pt x="3611245" y="6705727"/>
                  </a:cubicBezTo>
                  <a:lnTo>
                    <a:pt x="221107" y="6705727"/>
                  </a:lnTo>
                  <a:cubicBezTo>
                    <a:pt x="98933" y="6705727"/>
                    <a:pt x="0" y="6606794"/>
                    <a:pt x="0" y="6484620"/>
                  </a:cubicBezTo>
                  <a:close/>
                </a:path>
              </a:pathLst>
            </a:custGeom>
            <a:solidFill>
              <a:srgbClr val="0D1A2A"/>
            </a:solidFill>
            <a:ln w="19065" cap="sq">
              <a:solidFill>
                <a:srgbClr val="243B54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1932720" y="3229975"/>
            <a:ext cx="1144657" cy="1144657"/>
            <a:chOff x="0" y="0"/>
            <a:chExt cx="1526210" cy="152621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526286" cy="1526286"/>
            </a:xfrm>
            <a:custGeom>
              <a:avLst/>
              <a:gdLst/>
              <a:ahLst/>
              <a:cxnLst/>
              <a:rect r="r" b="b" t="t" l="l"/>
              <a:pathLst>
                <a:path h="1526286" w="1526286">
                  <a:moveTo>
                    <a:pt x="0" y="763143"/>
                  </a:moveTo>
                  <a:cubicBezTo>
                    <a:pt x="0" y="341630"/>
                    <a:pt x="341630" y="0"/>
                    <a:pt x="763143" y="0"/>
                  </a:cubicBezTo>
                  <a:cubicBezTo>
                    <a:pt x="1184656" y="0"/>
                    <a:pt x="1526286" y="341630"/>
                    <a:pt x="1526286" y="763143"/>
                  </a:cubicBezTo>
                  <a:cubicBezTo>
                    <a:pt x="1526286" y="1184656"/>
                    <a:pt x="1184656" y="1526286"/>
                    <a:pt x="763143" y="1526286"/>
                  </a:cubicBezTo>
                  <a:cubicBezTo>
                    <a:pt x="341630" y="1526286"/>
                    <a:pt x="0" y="1184529"/>
                    <a:pt x="0" y="763143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942254" y="3527765"/>
            <a:ext cx="1125588" cy="301990"/>
            <a:chOff x="0" y="0"/>
            <a:chExt cx="1500784" cy="40265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500789" cy="402651"/>
            </a:xfrm>
            <a:custGeom>
              <a:avLst/>
              <a:gdLst/>
              <a:ahLst/>
              <a:cxnLst/>
              <a:rect r="r" b="b" t="t" l="l"/>
              <a:pathLst>
                <a:path h="402651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25" r="0" b="-2262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150078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06111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379451" y="4735716"/>
            <a:ext cx="2223726" cy="494167"/>
            <a:chOff x="0" y="0"/>
            <a:chExt cx="2964967" cy="65888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964972" cy="658883"/>
            </a:xfrm>
            <a:custGeom>
              <a:avLst/>
              <a:gdLst/>
              <a:ahLst/>
              <a:cxnLst/>
              <a:rect r="r" b="b" t="t" l="l"/>
              <a:pathLst>
                <a:path h="658883" w="2964972">
                  <a:moveTo>
                    <a:pt x="0" y="0"/>
                  </a:moveTo>
                  <a:lnTo>
                    <a:pt x="2964972" y="0"/>
                  </a:lnTo>
                  <a:lnTo>
                    <a:pt x="296497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2964967" cy="658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Сравнить клиники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324549" y="5833853"/>
            <a:ext cx="2361000" cy="603980"/>
            <a:chOff x="0" y="0"/>
            <a:chExt cx="3148000" cy="80530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147995" cy="805301"/>
            </a:xfrm>
            <a:custGeom>
              <a:avLst/>
              <a:gdLst/>
              <a:ahLst/>
              <a:cxnLst/>
              <a:rect r="r" b="b" t="t" l="l"/>
              <a:pathLst>
                <a:path h="805301" w="3147995">
                  <a:moveTo>
                    <a:pt x="0" y="0"/>
                  </a:moveTo>
                  <a:lnTo>
                    <a:pt x="3147995" y="0"/>
                  </a:lnTo>
                  <a:lnTo>
                    <a:pt x="3147995" y="805301"/>
                  </a:lnTo>
                  <a:lnTo>
                    <a:pt x="0" y="805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3148000" cy="805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цены + статус актуальности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3977995" y="4849730"/>
            <a:ext cx="458324" cy="623040"/>
            <a:chOff x="0" y="0"/>
            <a:chExt cx="611099" cy="8307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11124" cy="830707"/>
            </a:xfrm>
            <a:custGeom>
              <a:avLst/>
              <a:gdLst/>
              <a:ahLst/>
              <a:cxnLst/>
              <a:rect r="r" b="b" t="t" l="l"/>
              <a:pathLst>
                <a:path h="830707" w="611124">
                  <a:moveTo>
                    <a:pt x="0" y="0"/>
                  </a:moveTo>
                  <a:lnTo>
                    <a:pt x="305562" y="0"/>
                  </a:lnTo>
                  <a:lnTo>
                    <a:pt x="611124" y="415417"/>
                  </a:lnTo>
                  <a:lnTo>
                    <a:pt x="305562" y="830707"/>
                  </a:lnTo>
                  <a:lnTo>
                    <a:pt x="0" y="830707"/>
                  </a:lnTo>
                  <a:lnTo>
                    <a:pt x="305562" y="415417"/>
                  </a:lnTo>
                  <a:close/>
                </a:path>
              </a:pathLst>
            </a:custGeom>
            <a:solidFill>
              <a:srgbClr val="2A4561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4430985" y="2790720"/>
            <a:ext cx="2874226" cy="5029324"/>
            <a:chOff x="0" y="0"/>
            <a:chExt cx="3832301" cy="670576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832352" cy="6705727"/>
            </a:xfrm>
            <a:custGeom>
              <a:avLst/>
              <a:gdLst/>
              <a:ahLst/>
              <a:cxnLst/>
              <a:rect r="r" b="b" t="t" l="l"/>
              <a:pathLst>
                <a:path h="6705727" w="3832352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3611245" y="0"/>
                  </a:lnTo>
                  <a:cubicBezTo>
                    <a:pt x="3733292" y="0"/>
                    <a:pt x="3832352" y="98933"/>
                    <a:pt x="3832352" y="221107"/>
                  </a:cubicBezTo>
                  <a:lnTo>
                    <a:pt x="3832352" y="6484620"/>
                  </a:lnTo>
                  <a:cubicBezTo>
                    <a:pt x="3832352" y="6606667"/>
                    <a:pt x="3733419" y="6705727"/>
                    <a:pt x="3611245" y="6705727"/>
                  </a:cubicBezTo>
                  <a:lnTo>
                    <a:pt x="221107" y="6705727"/>
                  </a:lnTo>
                  <a:cubicBezTo>
                    <a:pt x="98933" y="6705727"/>
                    <a:pt x="0" y="6606794"/>
                    <a:pt x="0" y="6484620"/>
                  </a:cubicBezTo>
                  <a:close/>
                </a:path>
              </a:pathLst>
            </a:custGeom>
            <a:solidFill>
              <a:srgbClr val="0D1A2A"/>
            </a:solidFill>
            <a:ln w="19065" cap="sq">
              <a:solidFill>
                <a:srgbClr val="243B54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5295769" y="3229975"/>
            <a:ext cx="1144657" cy="1144657"/>
            <a:chOff x="0" y="0"/>
            <a:chExt cx="1526210" cy="152621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526286" cy="1526286"/>
            </a:xfrm>
            <a:custGeom>
              <a:avLst/>
              <a:gdLst/>
              <a:ahLst/>
              <a:cxnLst/>
              <a:rect r="r" b="b" t="t" l="l"/>
              <a:pathLst>
                <a:path h="1526286" w="1526286">
                  <a:moveTo>
                    <a:pt x="0" y="763143"/>
                  </a:moveTo>
                  <a:cubicBezTo>
                    <a:pt x="0" y="341630"/>
                    <a:pt x="341630" y="0"/>
                    <a:pt x="763143" y="0"/>
                  </a:cubicBezTo>
                  <a:cubicBezTo>
                    <a:pt x="1184656" y="0"/>
                    <a:pt x="1526286" y="341630"/>
                    <a:pt x="1526286" y="763143"/>
                  </a:cubicBezTo>
                  <a:cubicBezTo>
                    <a:pt x="1526286" y="1184656"/>
                    <a:pt x="1184656" y="1526286"/>
                    <a:pt x="763143" y="1526286"/>
                  </a:cubicBezTo>
                  <a:cubicBezTo>
                    <a:pt x="341630" y="1526286"/>
                    <a:pt x="0" y="1184529"/>
                    <a:pt x="0" y="763143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5305294" y="3527765"/>
            <a:ext cx="1125588" cy="301990"/>
            <a:chOff x="0" y="0"/>
            <a:chExt cx="1500784" cy="40265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500789" cy="402651"/>
            </a:xfrm>
            <a:custGeom>
              <a:avLst/>
              <a:gdLst/>
              <a:ahLst/>
              <a:cxnLst/>
              <a:rect r="r" b="b" t="t" l="l"/>
              <a:pathLst>
                <a:path h="402651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25" r="0" b="-2262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1500784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06111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742500" y="4735716"/>
            <a:ext cx="2223726" cy="494167"/>
            <a:chOff x="0" y="0"/>
            <a:chExt cx="2964967" cy="65888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964972" cy="658883"/>
            </a:xfrm>
            <a:custGeom>
              <a:avLst/>
              <a:gdLst/>
              <a:ahLst/>
              <a:cxnLst/>
              <a:rect r="r" b="b" t="t" l="l"/>
              <a:pathLst>
                <a:path h="658883" w="2964972">
                  <a:moveTo>
                    <a:pt x="0" y="0"/>
                  </a:moveTo>
                  <a:lnTo>
                    <a:pt x="2964972" y="0"/>
                  </a:lnTo>
                  <a:lnTo>
                    <a:pt x="296497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2964967" cy="658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Открыть карту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4687598" y="5833853"/>
            <a:ext cx="2361000" cy="603980"/>
            <a:chOff x="0" y="0"/>
            <a:chExt cx="3148000" cy="805307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147995" cy="805301"/>
            </a:xfrm>
            <a:custGeom>
              <a:avLst/>
              <a:gdLst/>
              <a:ahLst/>
              <a:cxnLst/>
              <a:rect r="r" b="b" t="t" l="l"/>
              <a:pathLst>
                <a:path h="805301" w="3147995">
                  <a:moveTo>
                    <a:pt x="0" y="0"/>
                  </a:moveTo>
                  <a:lnTo>
                    <a:pt x="3147995" y="0"/>
                  </a:lnTo>
                  <a:lnTo>
                    <a:pt x="3147995" y="805301"/>
                  </a:lnTo>
                  <a:lnTo>
                    <a:pt x="0" y="805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9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3148000" cy="805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2GIS / Google / Yandex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5275259" y="8295132"/>
            <a:ext cx="7774667" cy="677951"/>
            <a:chOff x="0" y="0"/>
            <a:chExt cx="10366223" cy="90393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366249" cy="903986"/>
            </a:xfrm>
            <a:custGeom>
              <a:avLst/>
              <a:gdLst/>
              <a:ahLst/>
              <a:cxnLst/>
              <a:rect r="r" b="b" t="t" l="l"/>
              <a:pathLst>
                <a:path h="903986" w="10366249">
                  <a:moveTo>
                    <a:pt x="0" y="244856"/>
                  </a:moveTo>
                  <a:cubicBezTo>
                    <a:pt x="0" y="109601"/>
                    <a:pt x="109601" y="0"/>
                    <a:pt x="244856" y="0"/>
                  </a:cubicBezTo>
                  <a:lnTo>
                    <a:pt x="10121392" y="0"/>
                  </a:lnTo>
                  <a:cubicBezTo>
                    <a:pt x="10256648" y="0"/>
                    <a:pt x="10366249" y="109601"/>
                    <a:pt x="10366249" y="244856"/>
                  </a:cubicBezTo>
                  <a:lnTo>
                    <a:pt x="10366249" y="659130"/>
                  </a:lnTo>
                  <a:cubicBezTo>
                    <a:pt x="10366249" y="794385"/>
                    <a:pt x="10256648" y="903986"/>
                    <a:pt x="10121392" y="903986"/>
                  </a:cubicBezTo>
                  <a:lnTo>
                    <a:pt x="244856" y="903986"/>
                  </a:lnTo>
                  <a:cubicBezTo>
                    <a:pt x="109601" y="903986"/>
                    <a:pt x="0" y="794385"/>
                    <a:pt x="0" y="659130"/>
                  </a:cubicBezTo>
                  <a:close/>
                </a:path>
              </a:pathLst>
            </a:custGeom>
            <a:solidFill>
              <a:srgbClr val="39B6FF">
                <a:alpha val="77255"/>
              </a:srgbClr>
            </a:solidFill>
            <a:ln w="19065" cap="sq">
              <a:solidFill>
                <a:srgbClr val="39B6FF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5600500" y="8510568"/>
            <a:ext cx="7137892" cy="205902"/>
            <a:chOff x="0" y="0"/>
            <a:chExt cx="9517190" cy="27453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517195" cy="274534"/>
            </a:xfrm>
            <a:custGeom>
              <a:avLst/>
              <a:gdLst/>
              <a:ahLst/>
              <a:cxnLst/>
              <a:rect r="r" b="b" t="t" l="l"/>
              <a:pathLst>
                <a:path h="274534" w="9517195">
                  <a:moveTo>
                    <a:pt x="0" y="0"/>
                  </a:moveTo>
                  <a:lnTo>
                    <a:pt x="9517195" y="0"/>
                  </a:lnTo>
                  <a:lnTo>
                    <a:pt x="9517195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480" r="0" b="-62548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9517190" cy="274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06111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Цель демо: показать, что данные реально попадают в поиск и сравниваются на UI</a:t>
              </a:r>
            </a:p>
          </p:txBody>
        </p:sp>
      </p:grpSp>
      <p:sp>
        <p:nvSpPr>
          <p:cNvPr name="TextBox 104" id="104"/>
          <p:cNvSpPr txBox="true"/>
          <p:nvPr/>
        </p:nvSpPr>
        <p:spPr>
          <a:xfrm rot="0">
            <a:off x="17798910" y="9901504"/>
            <a:ext cx="1018061" cy="35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EA4BC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906" y="9805073"/>
            <a:ext cx="17383373" cy="19069"/>
            <a:chOff x="0" y="0"/>
            <a:chExt cx="23177830" cy="25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77881" cy="25400"/>
            </a:xfrm>
            <a:custGeom>
              <a:avLst/>
              <a:gdLst/>
              <a:ahLst/>
              <a:cxnLst/>
              <a:rect r="r" b="b" t="t" l="l"/>
              <a:pathLst>
                <a:path h="25400" w="23177881">
                  <a:moveTo>
                    <a:pt x="0" y="0"/>
                  </a:moveTo>
                  <a:lnTo>
                    <a:pt x="2317788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7730300" r="0" b="-17730400"/>
              </a:stretch>
            </a:blipFill>
            <a:ln w="19065" cap="sq">
              <a:solidFill>
                <a:srgbClr val="1B2A3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9855784"/>
            <a:ext cx="4118019" cy="219627"/>
            <a:chOff x="0" y="0"/>
            <a:chExt cx="549069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90690" cy="292837"/>
            </a:xfrm>
            <a:custGeom>
              <a:avLst/>
              <a:gdLst/>
              <a:ahLst/>
              <a:cxnLst/>
              <a:rect r="r" b="b" t="t" l="l"/>
              <a:pathLst>
                <a:path h="292837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490693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8EA4BC"/>
                  </a:solidFill>
                  <a:latin typeface="Aptos"/>
                  <a:ea typeface="Aptos"/>
                  <a:cs typeface="Aptos"/>
                  <a:sym typeface="Aptos"/>
                </a:rPr>
                <a:t>MedServicePrice.kz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44431" y="9855784"/>
            <a:ext cx="3225784" cy="219627"/>
            <a:chOff x="0" y="0"/>
            <a:chExt cx="4301046" cy="2928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01040" cy="292837"/>
            </a:xfrm>
            <a:custGeom>
              <a:avLst/>
              <a:gdLst/>
              <a:ahLst/>
              <a:cxnLst/>
              <a:rect r="r" b="b" t="t" l="l"/>
              <a:pathLst>
                <a:path h="292837" w="4301040">
                  <a:moveTo>
                    <a:pt x="0" y="0"/>
                  </a:moveTo>
                  <a:lnTo>
                    <a:pt x="4301040" y="0"/>
                  </a:lnTo>
                  <a:lnTo>
                    <a:pt x="430104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4301046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70"/>
                </a:lnSpc>
              </a:pPr>
              <a:r>
                <a:rPr lang="en-US" sz="975">
                  <a:solidFill>
                    <a:srgbClr val="8EA4BC"/>
                  </a:solidFill>
                  <a:latin typeface="Aptos"/>
                  <a:ea typeface="Aptos"/>
                  <a:cs typeface="Aptos"/>
                  <a:sym typeface="Aptos"/>
                </a:rPr>
                <a:t>MiMo Code · Hackathon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8111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900000">
            <a:off x="-1803540" y="-1529001"/>
            <a:ext cx="5803354" cy="5803354"/>
            <a:chOff x="0" y="0"/>
            <a:chExt cx="7737805" cy="77378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solidFill>
              <a:srgbClr val="39B6FF">
                <a:alpha val="0"/>
              </a:srgbClr>
            </a:solidFill>
            <a:ln w="38130" cap="sq">
              <a:solidFill>
                <a:srgbClr val="39B6FF"/>
              </a:solidFill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solidFill>
              <a:srgbClr val="39B6FF">
                <a:alpha val="0"/>
              </a:srgbClr>
            </a:solidFill>
            <a:ln w="38130" cap="sq">
              <a:solidFill>
                <a:srgbClr val="39B6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1500000">
            <a:off x="14256725" y="6226597"/>
            <a:ext cx="5803354" cy="5803354"/>
            <a:chOff x="0" y="0"/>
            <a:chExt cx="7737805" cy="77378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solidFill>
              <a:srgbClr val="55E1D7">
                <a:alpha val="0"/>
              </a:srgbClr>
            </a:solidFill>
            <a:ln w="38130" cap="sq">
              <a:solidFill>
                <a:srgbClr val="55E1D7"/>
              </a:solidFill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solidFill>
              <a:srgbClr val="55E1D7">
                <a:alpha val="0"/>
              </a:srgbClr>
            </a:solidFill>
            <a:ln w="38130" cap="sq">
              <a:solidFill>
                <a:srgbClr val="55E1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92235" y="494167"/>
            <a:ext cx="11667715" cy="343167"/>
            <a:chOff x="0" y="0"/>
            <a:chExt cx="15556954" cy="4575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56954" cy="457557"/>
            </a:xfrm>
            <a:custGeom>
              <a:avLst/>
              <a:gdLst/>
              <a:ahLst/>
              <a:cxnLst/>
              <a:rect r="r" b="b" t="t" l="l"/>
              <a:pathLst>
                <a:path h="457557" w="15556954">
                  <a:moveTo>
                    <a:pt x="0" y="0"/>
                  </a:moveTo>
                  <a:lnTo>
                    <a:pt x="15556954" y="0"/>
                  </a:lnTo>
                  <a:lnTo>
                    <a:pt x="15556954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5556954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 b="true">
                  <a:solidFill>
                    <a:srgbClr val="55E1D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КАК ЭТО РАБОТАЕТ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51059" y="988324"/>
            <a:ext cx="14824862" cy="754971"/>
            <a:chOff x="0" y="0"/>
            <a:chExt cx="19766483" cy="10066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766483" cy="1006626"/>
            </a:xfrm>
            <a:custGeom>
              <a:avLst/>
              <a:gdLst/>
              <a:ahLst/>
              <a:cxnLst/>
              <a:rect r="r" b="b" t="t" l="l"/>
              <a:pathLst>
                <a:path h="1006626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615" r="0" b="-33261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9766483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3"/>
                </a:lnSpc>
              </a:pPr>
              <a:r>
                <a:rPr lang="en-US" sz="3752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Архитектура и стек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63641" y="1824514"/>
            <a:ext cx="1635766" cy="57198"/>
            <a:chOff x="0" y="0"/>
            <a:chExt cx="2181022" cy="762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80971" cy="76200"/>
            </a:xfrm>
            <a:custGeom>
              <a:avLst/>
              <a:gdLst/>
              <a:ahLst/>
              <a:cxnLst/>
              <a:rect r="r" b="b" t="t" l="l"/>
              <a:pathLst>
                <a:path h="76200" w="2180971">
                  <a:moveTo>
                    <a:pt x="0" y="0"/>
                  </a:moveTo>
                  <a:lnTo>
                    <a:pt x="2180971" y="762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507665" r="-2" b="-507748"/>
              </a:stretch>
            </a:blipFill>
            <a:ln w="57195" cap="sq">
              <a:solidFill>
                <a:srgbClr val="39B6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19975" y="2804446"/>
            <a:ext cx="2970314" cy="3793912"/>
            <a:chOff x="0" y="0"/>
            <a:chExt cx="3960419" cy="50585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60368" cy="5058410"/>
            </a:xfrm>
            <a:custGeom>
              <a:avLst/>
              <a:gdLst/>
              <a:ahLst/>
              <a:cxnLst/>
              <a:rect r="r" b="b" t="t" l="l"/>
              <a:pathLst>
                <a:path h="5058410" w="3960368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3739388" y="0"/>
                  </a:lnTo>
                  <a:cubicBezTo>
                    <a:pt x="3861435" y="0"/>
                    <a:pt x="3960368" y="98933"/>
                    <a:pt x="3960368" y="220980"/>
                  </a:cubicBezTo>
                  <a:lnTo>
                    <a:pt x="3960368" y="4837430"/>
                  </a:lnTo>
                  <a:cubicBezTo>
                    <a:pt x="3960368" y="4959477"/>
                    <a:pt x="3861435" y="5058410"/>
                    <a:pt x="3739388" y="5058410"/>
                  </a:cubicBezTo>
                  <a:lnTo>
                    <a:pt x="220980" y="5058410"/>
                  </a:lnTo>
                  <a:cubicBezTo>
                    <a:pt x="98933" y="5058410"/>
                    <a:pt x="0" y="4959477"/>
                    <a:pt x="0" y="4837430"/>
                  </a:cubicBezTo>
                  <a:close/>
                </a:path>
              </a:pathLst>
            </a:custGeom>
            <a:solidFill>
              <a:srgbClr val="0D1A2A"/>
            </a:solidFill>
            <a:ln w="19065" cap="sq">
              <a:solidFill>
                <a:srgbClr val="2A405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94505" y="3147612"/>
            <a:ext cx="595589" cy="595589"/>
            <a:chOff x="0" y="0"/>
            <a:chExt cx="794118" cy="79411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94131" cy="794004"/>
            </a:xfrm>
            <a:custGeom>
              <a:avLst/>
              <a:gdLst/>
              <a:ahLst/>
              <a:cxnLst/>
              <a:rect r="r" b="b" t="t" l="l"/>
              <a:pathLst>
                <a:path h="794004" w="794131">
                  <a:moveTo>
                    <a:pt x="0" y="397002"/>
                  </a:moveTo>
                  <a:cubicBezTo>
                    <a:pt x="0" y="177800"/>
                    <a:pt x="177800" y="0"/>
                    <a:pt x="397002" y="0"/>
                  </a:cubicBezTo>
                  <a:cubicBezTo>
                    <a:pt x="616204" y="0"/>
                    <a:pt x="794131" y="177800"/>
                    <a:pt x="794131" y="397002"/>
                  </a:cubicBezTo>
                  <a:cubicBezTo>
                    <a:pt x="794131" y="616204"/>
                    <a:pt x="616331" y="794004"/>
                    <a:pt x="397129" y="794004"/>
                  </a:cubicBezTo>
                  <a:cubicBezTo>
                    <a:pt x="177927" y="794004"/>
                    <a:pt x="0" y="616331"/>
                    <a:pt x="0" y="397002"/>
                  </a:cubicBezTo>
                  <a:close/>
                </a:path>
              </a:pathLst>
            </a:custGeom>
            <a:solidFill>
              <a:srgbClr val="39B6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04039" y="4021931"/>
            <a:ext cx="2402176" cy="603980"/>
            <a:chOff x="0" y="0"/>
            <a:chExt cx="3202902" cy="80530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02902" cy="805301"/>
            </a:xfrm>
            <a:custGeom>
              <a:avLst/>
              <a:gdLst/>
              <a:ahLst/>
              <a:cxnLst/>
              <a:rect r="r" b="b" t="t" l="l"/>
              <a:pathLst>
                <a:path h="805301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805301"/>
                  </a:lnTo>
                  <a:lnTo>
                    <a:pt x="0" y="805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96" r="0" b="-2749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202902" cy="805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Публичные источники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04039" y="4941618"/>
            <a:ext cx="2402176" cy="988324"/>
            <a:chOff x="0" y="0"/>
            <a:chExt cx="3202902" cy="13177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02902" cy="1317765"/>
            </a:xfrm>
            <a:custGeom>
              <a:avLst/>
              <a:gdLst/>
              <a:ahLst/>
              <a:cxnLst/>
              <a:rect r="r" b="b" t="t" l="l"/>
              <a:pathLst>
                <a:path h="1317765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7" t="0" r="-2787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202902" cy="1317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HTML / PDF</a:t>
              </a:r>
            </a:p>
            <a:p>
              <a:pPr algn="l">
                <a:lnSpc>
                  <a:spcPts val="1585"/>
                </a:lnSpc>
              </a:pPr>
              <a:r>
                <a:rPr lang="en-US" sz="1321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сайты клиник и лабораторий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039848" y="4286936"/>
            <a:ext cx="513226" cy="732854"/>
            <a:chOff x="0" y="0"/>
            <a:chExt cx="684301" cy="9771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4276" cy="977138"/>
            </a:xfrm>
            <a:custGeom>
              <a:avLst/>
              <a:gdLst/>
              <a:ahLst/>
              <a:cxnLst/>
              <a:rect r="r" b="b" t="t" l="l"/>
              <a:pathLst>
                <a:path h="977138" w="684276">
                  <a:moveTo>
                    <a:pt x="0" y="0"/>
                  </a:moveTo>
                  <a:lnTo>
                    <a:pt x="342138" y="0"/>
                  </a:lnTo>
                  <a:lnTo>
                    <a:pt x="684276" y="488569"/>
                  </a:lnTo>
                  <a:lnTo>
                    <a:pt x="342138" y="977138"/>
                  </a:lnTo>
                  <a:lnTo>
                    <a:pt x="0" y="977138"/>
                  </a:lnTo>
                  <a:lnTo>
                    <a:pt x="342138" y="488569"/>
                  </a:lnTo>
                  <a:close/>
                </a:path>
              </a:pathLst>
            </a:custGeom>
            <a:solidFill>
              <a:srgbClr val="2A456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588916" y="2804446"/>
            <a:ext cx="2970314" cy="3793912"/>
            <a:chOff x="0" y="0"/>
            <a:chExt cx="3960419" cy="50585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960368" cy="5058410"/>
            </a:xfrm>
            <a:custGeom>
              <a:avLst/>
              <a:gdLst/>
              <a:ahLst/>
              <a:cxnLst/>
              <a:rect r="r" b="b" t="t" l="l"/>
              <a:pathLst>
                <a:path h="5058410" w="3960368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3739388" y="0"/>
                  </a:lnTo>
                  <a:cubicBezTo>
                    <a:pt x="3861435" y="0"/>
                    <a:pt x="3960368" y="98933"/>
                    <a:pt x="3960368" y="220980"/>
                  </a:cubicBezTo>
                  <a:lnTo>
                    <a:pt x="3960368" y="4837430"/>
                  </a:lnTo>
                  <a:cubicBezTo>
                    <a:pt x="3960368" y="4959477"/>
                    <a:pt x="3861435" y="5058410"/>
                    <a:pt x="3739388" y="5058410"/>
                  </a:cubicBezTo>
                  <a:lnTo>
                    <a:pt x="220980" y="5058410"/>
                  </a:lnTo>
                  <a:cubicBezTo>
                    <a:pt x="98933" y="5058410"/>
                    <a:pt x="0" y="4959477"/>
                    <a:pt x="0" y="4837430"/>
                  </a:cubicBezTo>
                  <a:close/>
                </a:path>
              </a:pathLst>
            </a:custGeom>
            <a:solidFill>
              <a:srgbClr val="0D1A2A"/>
            </a:solidFill>
            <a:ln w="19065" cap="sq">
              <a:solidFill>
                <a:srgbClr val="2A405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4863455" y="3147612"/>
            <a:ext cx="595589" cy="595589"/>
            <a:chOff x="0" y="0"/>
            <a:chExt cx="794118" cy="79411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94131" cy="794004"/>
            </a:xfrm>
            <a:custGeom>
              <a:avLst/>
              <a:gdLst/>
              <a:ahLst/>
              <a:cxnLst/>
              <a:rect r="r" b="b" t="t" l="l"/>
              <a:pathLst>
                <a:path h="794004" w="794131">
                  <a:moveTo>
                    <a:pt x="0" y="397002"/>
                  </a:moveTo>
                  <a:cubicBezTo>
                    <a:pt x="0" y="177800"/>
                    <a:pt x="177800" y="0"/>
                    <a:pt x="397002" y="0"/>
                  </a:cubicBezTo>
                  <a:cubicBezTo>
                    <a:pt x="616204" y="0"/>
                    <a:pt x="794131" y="177800"/>
                    <a:pt x="794131" y="397002"/>
                  </a:cubicBezTo>
                  <a:cubicBezTo>
                    <a:pt x="794131" y="616204"/>
                    <a:pt x="616331" y="794004"/>
                    <a:pt x="397129" y="794004"/>
                  </a:cubicBezTo>
                  <a:cubicBezTo>
                    <a:pt x="177927" y="794004"/>
                    <a:pt x="0" y="616331"/>
                    <a:pt x="0" y="397002"/>
                  </a:cubicBezTo>
                  <a:close/>
                </a:path>
              </a:pathLst>
            </a:custGeom>
            <a:solidFill>
              <a:srgbClr val="55E1D7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872990" y="4021931"/>
            <a:ext cx="2402176" cy="603980"/>
            <a:chOff x="0" y="0"/>
            <a:chExt cx="3202902" cy="80530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02902" cy="805301"/>
            </a:xfrm>
            <a:custGeom>
              <a:avLst/>
              <a:gdLst/>
              <a:ahLst/>
              <a:cxnLst/>
              <a:rect r="r" b="b" t="t" l="l"/>
              <a:pathLst>
                <a:path h="805301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805301"/>
                  </a:lnTo>
                  <a:lnTo>
                    <a:pt x="0" y="805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96" r="0" b="-2749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3202902" cy="805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Parser adapters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872990" y="4941618"/>
            <a:ext cx="2402176" cy="988324"/>
            <a:chOff x="0" y="0"/>
            <a:chExt cx="3202902" cy="13177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02902" cy="1317765"/>
            </a:xfrm>
            <a:custGeom>
              <a:avLst/>
              <a:gdLst/>
              <a:ahLst/>
              <a:cxnLst/>
              <a:rect r="r" b="b" t="t" l="l"/>
              <a:pathLst>
                <a:path h="1317765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7" t="0" r="-278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202902" cy="1317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lxml · httpx · pdfplumber</a:t>
              </a:r>
            </a:p>
            <a:p>
              <a:pPr algn="l">
                <a:lnSpc>
                  <a:spcPts val="1585"/>
                </a:lnSpc>
              </a:pPr>
              <a:r>
                <a:rPr lang="en-US" sz="1321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лимиты и безопасный fetch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608799" y="4286936"/>
            <a:ext cx="513226" cy="732854"/>
            <a:chOff x="0" y="0"/>
            <a:chExt cx="684301" cy="97713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4276" cy="977138"/>
            </a:xfrm>
            <a:custGeom>
              <a:avLst/>
              <a:gdLst/>
              <a:ahLst/>
              <a:cxnLst/>
              <a:rect r="r" b="b" t="t" l="l"/>
              <a:pathLst>
                <a:path h="977138" w="684276">
                  <a:moveTo>
                    <a:pt x="0" y="0"/>
                  </a:moveTo>
                  <a:lnTo>
                    <a:pt x="342138" y="0"/>
                  </a:lnTo>
                  <a:lnTo>
                    <a:pt x="684276" y="488569"/>
                  </a:lnTo>
                  <a:lnTo>
                    <a:pt x="342138" y="977138"/>
                  </a:lnTo>
                  <a:lnTo>
                    <a:pt x="0" y="977138"/>
                  </a:lnTo>
                  <a:lnTo>
                    <a:pt x="342138" y="488569"/>
                  </a:lnTo>
                  <a:close/>
                </a:path>
              </a:pathLst>
            </a:custGeom>
            <a:solidFill>
              <a:srgbClr val="2A456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157867" y="2804446"/>
            <a:ext cx="2970314" cy="3793912"/>
            <a:chOff x="0" y="0"/>
            <a:chExt cx="3960419" cy="50585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960368" cy="5058410"/>
            </a:xfrm>
            <a:custGeom>
              <a:avLst/>
              <a:gdLst/>
              <a:ahLst/>
              <a:cxnLst/>
              <a:rect r="r" b="b" t="t" l="l"/>
              <a:pathLst>
                <a:path h="5058410" w="3960368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3739388" y="0"/>
                  </a:lnTo>
                  <a:cubicBezTo>
                    <a:pt x="3861435" y="0"/>
                    <a:pt x="3960368" y="98933"/>
                    <a:pt x="3960368" y="220980"/>
                  </a:cubicBezTo>
                  <a:lnTo>
                    <a:pt x="3960368" y="4837430"/>
                  </a:lnTo>
                  <a:cubicBezTo>
                    <a:pt x="3960368" y="4959477"/>
                    <a:pt x="3861435" y="5058410"/>
                    <a:pt x="3739388" y="5058410"/>
                  </a:cubicBezTo>
                  <a:lnTo>
                    <a:pt x="220980" y="5058410"/>
                  </a:lnTo>
                  <a:cubicBezTo>
                    <a:pt x="98933" y="5058410"/>
                    <a:pt x="0" y="4959477"/>
                    <a:pt x="0" y="4837430"/>
                  </a:cubicBezTo>
                  <a:close/>
                </a:path>
              </a:pathLst>
            </a:custGeom>
            <a:solidFill>
              <a:srgbClr val="0D1A2A"/>
            </a:solidFill>
            <a:ln w="19065" cap="sq">
              <a:solidFill>
                <a:srgbClr val="2A4058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8432406" y="3147612"/>
            <a:ext cx="595589" cy="595589"/>
            <a:chOff x="0" y="0"/>
            <a:chExt cx="794118" cy="79411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94131" cy="794004"/>
            </a:xfrm>
            <a:custGeom>
              <a:avLst/>
              <a:gdLst/>
              <a:ahLst/>
              <a:cxnLst/>
              <a:rect r="r" b="b" t="t" l="l"/>
              <a:pathLst>
                <a:path h="794004" w="794131">
                  <a:moveTo>
                    <a:pt x="0" y="397002"/>
                  </a:moveTo>
                  <a:cubicBezTo>
                    <a:pt x="0" y="177800"/>
                    <a:pt x="177800" y="0"/>
                    <a:pt x="397002" y="0"/>
                  </a:cubicBezTo>
                  <a:cubicBezTo>
                    <a:pt x="616204" y="0"/>
                    <a:pt x="794131" y="177800"/>
                    <a:pt x="794131" y="397002"/>
                  </a:cubicBezTo>
                  <a:cubicBezTo>
                    <a:pt x="794131" y="616204"/>
                    <a:pt x="616331" y="794004"/>
                    <a:pt x="397129" y="794004"/>
                  </a:cubicBezTo>
                  <a:cubicBezTo>
                    <a:pt x="177927" y="794004"/>
                    <a:pt x="0" y="616331"/>
                    <a:pt x="0" y="397002"/>
                  </a:cubicBezTo>
                  <a:close/>
                </a:path>
              </a:pathLst>
            </a:custGeom>
            <a:solidFill>
              <a:srgbClr val="79F2A4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441931" y="4021931"/>
            <a:ext cx="2402176" cy="603980"/>
            <a:chOff x="0" y="0"/>
            <a:chExt cx="3202902" cy="80530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202902" cy="805301"/>
            </a:xfrm>
            <a:custGeom>
              <a:avLst/>
              <a:gdLst/>
              <a:ahLst/>
              <a:cxnLst/>
              <a:rect r="r" b="b" t="t" l="l"/>
              <a:pathLst>
                <a:path h="805301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805301"/>
                  </a:lnTo>
                  <a:lnTo>
                    <a:pt x="0" y="805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96" r="0" b="-2749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3202902" cy="805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ImportService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441931" y="4941618"/>
            <a:ext cx="2402176" cy="988324"/>
            <a:chOff x="0" y="0"/>
            <a:chExt cx="3202902" cy="131776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202902" cy="1317765"/>
            </a:xfrm>
            <a:custGeom>
              <a:avLst/>
              <a:gdLst/>
              <a:ahLst/>
              <a:cxnLst/>
              <a:rect r="r" b="b" t="t" l="l"/>
              <a:pathLst>
                <a:path h="1317765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7" t="0" r="-2787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3202902" cy="1317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нормализация · дедупликация</a:t>
              </a:r>
            </a:p>
            <a:p>
              <a:pPr algn="l">
                <a:lnSpc>
                  <a:spcPts val="1585"/>
                </a:lnSpc>
              </a:pPr>
              <a:r>
                <a:rPr lang="en-US" sz="1321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source URL · parsed_at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177749" y="4286936"/>
            <a:ext cx="513226" cy="732854"/>
            <a:chOff x="0" y="0"/>
            <a:chExt cx="684301" cy="97713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84276" cy="977138"/>
            </a:xfrm>
            <a:custGeom>
              <a:avLst/>
              <a:gdLst/>
              <a:ahLst/>
              <a:cxnLst/>
              <a:rect r="r" b="b" t="t" l="l"/>
              <a:pathLst>
                <a:path h="977138" w="684276">
                  <a:moveTo>
                    <a:pt x="0" y="0"/>
                  </a:moveTo>
                  <a:lnTo>
                    <a:pt x="342138" y="0"/>
                  </a:lnTo>
                  <a:lnTo>
                    <a:pt x="684276" y="488569"/>
                  </a:lnTo>
                  <a:lnTo>
                    <a:pt x="342138" y="977138"/>
                  </a:lnTo>
                  <a:lnTo>
                    <a:pt x="0" y="977138"/>
                  </a:lnTo>
                  <a:lnTo>
                    <a:pt x="342138" y="488569"/>
                  </a:lnTo>
                  <a:close/>
                </a:path>
              </a:pathLst>
            </a:custGeom>
            <a:solidFill>
              <a:srgbClr val="2A4561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726818" y="2804446"/>
            <a:ext cx="2970314" cy="3793912"/>
            <a:chOff x="0" y="0"/>
            <a:chExt cx="3960419" cy="505855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960368" cy="5058410"/>
            </a:xfrm>
            <a:custGeom>
              <a:avLst/>
              <a:gdLst/>
              <a:ahLst/>
              <a:cxnLst/>
              <a:rect r="r" b="b" t="t" l="l"/>
              <a:pathLst>
                <a:path h="5058410" w="3960368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3739388" y="0"/>
                  </a:lnTo>
                  <a:cubicBezTo>
                    <a:pt x="3861435" y="0"/>
                    <a:pt x="3960368" y="98933"/>
                    <a:pt x="3960368" y="220980"/>
                  </a:cubicBezTo>
                  <a:lnTo>
                    <a:pt x="3960368" y="4837430"/>
                  </a:lnTo>
                  <a:cubicBezTo>
                    <a:pt x="3960368" y="4959477"/>
                    <a:pt x="3861435" y="5058410"/>
                    <a:pt x="3739388" y="5058410"/>
                  </a:cubicBezTo>
                  <a:lnTo>
                    <a:pt x="220980" y="5058410"/>
                  </a:lnTo>
                  <a:cubicBezTo>
                    <a:pt x="98933" y="5058410"/>
                    <a:pt x="0" y="4959477"/>
                    <a:pt x="0" y="4837430"/>
                  </a:cubicBezTo>
                  <a:close/>
                </a:path>
              </a:pathLst>
            </a:custGeom>
            <a:solidFill>
              <a:srgbClr val="0D1A2A"/>
            </a:solidFill>
            <a:ln w="19065" cap="sq">
              <a:solidFill>
                <a:srgbClr val="2A4058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001348" y="3147612"/>
            <a:ext cx="595589" cy="595589"/>
            <a:chOff x="0" y="0"/>
            <a:chExt cx="794118" cy="79411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94131" cy="794004"/>
            </a:xfrm>
            <a:custGeom>
              <a:avLst/>
              <a:gdLst/>
              <a:ahLst/>
              <a:cxnLst/>
              <a:rect r="r" b="b" t="t" l="l"/>
              <a:pathLst>
                <a:path h="794004" w="794131">
                  <a:moveTo>
                    <a:pt x="0" y="397002"/>
                  </a:moveTo>
                  <a:cubicBezTo>
                    <a:pt x="0" y="177800"/>
                    <a:pt x="177800" y="0"/>
                    <a:pt x="397002" y="0"/>
                  </a:cubicBezTo>
                  <a:cubicBezTo>
                    <a:pt x="616204" y="0"/>
                    <a:pt x="794131" y="177800"/>
                    <a:pt x="794131" y="397002"/>
                  </a:cubicBezTo>
                  <a:cubicBezTo>
                    <a:pt x="794131" y="616204"/>
                    <a:pt x="616331" y="794004"/>
                    <a:pt x="397129" y="794004"/>
                  </a:cubicBezTo>
                  <a:cubicBezTo>
                    <a:pt x="177927" y="794004"/>
                    <a:pt x="0" y="616331"/>
                    <a:pt x="0" y="397002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010882" y="4021931"/>
            <a:ext cx="2402176" cy="603980"/>
            <a:chOff x="0" y="0"/>
            <a:chExt cx="3202902" cy="80530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02902" cy="805301"/>
            </a:xfrm>
            <a:custGeom>
              <a:avLst/>
              <a:gdLst/>
              <a:ahLst/>
              <a:cxnLst/>
              <a:rect r="r" b="b" t="t" l="l"/>
              <a:pathLst>
                <a:path h="805301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805301"/>
                  </a:lnTo>
                  <a:lnTo>
                    <a:pt x="0" y="805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96" r="0" b="-2749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3202902" cy="805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PostgreSQL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010882" y="4941618"/>
            <a:ext cx="2402176" cy="988324"/>
            <a:chOff x="0" y="0"/>
            <a:chExt cx="3202902" cy="131776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202902" cy="1317765"/>
            </a:xfrm>
            <a:custGeom>
              <a:avLst/>
              <a:gdLst/>
              <a:ahLst/>
              <a:cxnLst/>
              <a:rect r="r" b="b" t="t" l="l"/>
              <a:pathLst>
                <a:path h="1317765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7" t="0" r="-2787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3202902" cy="1317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клиники · услуги · цены</a:t>
              </a:r>
            </a:p>
            <a:p>
              <a:pPr algn="l">
                <a:lnSpc>
                  <a:spcPts val="1585"/>
                </a:lnSpc>
              </a:pPr>
              <a:r>
                <a:rPr lang="en-US" sz="1321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канонический справочник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746700" y="4286936"/>
            <a:ext cx="513226" cy="732854"/>
            <a:chOff x="0" y="0"/>
            <a:chExt cx="684301" cy="97713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84276" cy="977138"/>
            </a:xfrm>
            <a:custGeom>
              <a:avLst/>
              <a:gdLst/>
              <a:ahLst/>
              <a:cxnLst/>
              <a:rect r="r" b="b" t="t" l="l"/>
              <a:pathLst>
                <a:path h="977138" w="684276">
                  <a:moveTo>
                    <a:pt x="0" y="0"/>
                  </a:moveTo>
                  <a:lnTo>
                    <a:pt x="342138" y="0"/>
                  </a:lnTo>
                  <a:lnTo>
                    <a:pt x="684276" y="488569"/>
                  </a:lnTo>
                  <a:lnTo>
                    <a:pt x="342138" y="977138"/>
                  </a:lnTo>
                  <a:lnTo>
                    <a:pt x="0" y="977138"/>
                  </a:lnTo>
                  <a:lnTo>
                    <a:pt x="342138" y="488569"/>
                  </a:lnTo>
                  <a:close/>
                </a:path>
              </a:pathLst>
            </a:custGeom>
            <a:solidFill>
              <a:srgbClr val="2A4561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4678063" y="2804446"/>
            <a:ext cx="2558510" cy="3793912"/>
            <a:chOff x="0" y="0"/>
            <a:chExt cx="3411347" cy="505855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411347" cy="5058537"/>
            </a:xfrm>
            <a:custGeom>
              <a:avLst/>
              <a:gdLst/>
              <a:ahLst/>
              <a:cxnLst/>
              <a:rect r="r" b="b" t="t" l="l"/>
              <a:pathLst>
                <a:path h="5058537" w="3411347">
                  <a:moveTo>
                    <a:pt x="0" y="221234"/>
                  </a:moveTo>
                  <a:cubicBezTo>
                    <a:pt x="0" y="99060"/>
                    <a:pt x="99060" y="0"/>
                    <a:pt x="221234" y="0"/>
                  </a:cubicBezTo>
                  <a:lnTo>
                    <a:pt x="3190113" y="0"/>
                  </a:lnTo>
                  <a:cubicBezTo>
                    <a:pt x="3312287" y="0"/>
                    <a:pt x="3411347" y="99060"/>
                    <a:pt x="3411347" y="221234"/>
                  </a:cubicBezTo>
                  <a:lnTo>
                    <a:pt x="3411347" y="4837303"/>
                  </a:lnTo>
                  <a:cubicBezTo>
                    <a:pt x="3411347" y="4959477"/>
                    <a:pt x="3312287" y="5058537"/>
                    <a:pt x="3190113" y="5058537"/>
                  </a:cubicBezTo>
                  <a:lnTo>
                    <a:pt x="221234" y="5058537"/>
                  </a:lnTo>
                  <a:cubicBezTo>
                    <a:pt x="99060" y="5058537"/>
                    <a:pt x="0" y="4959477"/>
                    <a:pt x="0" y="4837303"/>
                  </a:cubicBezTo>
                  <a:close/>
                </a:path>
              </a:pathLst>
            </a:custGeom>
            <a:solidFill>
              <a:srgbClr val="0D1A2A"/>
            </a:solidFill>
            <a:ln w="19065" cap="sq">
              <a:solidFill>
                <a:srgbClr val="2A4058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4952593" y="3147612"/>
            <a:ext cx="595589" cy="595589"/>
            <a:chOff x="0" y="0"/>
            <a:chExt cx="794118" cy="79411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94131" cy="794004"/>
            </a:xfrm>
            <a:custGeom>
              <a:avLst/>
              <a:gdLst/>
              <a:ahLst/>
              <a:cxnLst/>
              <a:rect r="r" b="b" t="t" l="l"/>
              <a:pathLst>
                <a:path h="794004" w="794131">
                  <a:moveTo>
                    <a:pt x="0" y="397002"/>
                  </a:moveTo>
                  <a:cubicBezTo>
                    <a:pt x="0" y="177800"/>
                    <a:pt x="177800" y="0"/>
                    <a:pt x="397002" y="0"/>
                  </a:cubicBezTo>
                  <a:cubicBezTo>
                    <a:pt x="616204" y="0"/>
                    <a:pt x="794131" y="177800"/>
                    <a:pt x="794131" y="397002"/>
                  </a:cubicBezTo>
                  <a:cubicBezTo>
                    <a:pt x="794131" y="616204"/>
                    <a:pt x="616331" y="794004"/>
                    <a:pt x="397129" y="794004"/>
                  </a:cubicBezTo>
                  <a:cubicBezTo>
                    <a:pt x="177927" y="794004"/>
                    <a:pt x="0" y="616331"/>
                    <a:pt x="0" y="397002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4962127" y="4021931"/>
            <a:ext cx="2059010" cy="603980"/>
            <a:chOff x="0" y="0"/>
            <a:chExt cx="2745346" cy="80530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745345" cy="805301"/>
            </a:xfrm>
            <a:custGeom>
              <a:avLst/>
              <a:gdLst/>
              <a:ahLst/>
              <a:cxnLst/>
              <a:rect r="r" b="b" t="t" l="l"/>
              <a:pathLst>
                <a:path h="805301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805301"/>
                  </a:lnTo>
                  <a:lnTo>
                    <a:pt x="0" y="805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5" r="0" b="-1642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2745346" cy="805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Next.js UI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4962127" y="4941618"/>
            <a:ext cx="1990373" cy="988324"/>
            <a:chOff x="0" y="0"/>
            <a:chExt cx="2653830" cy="131776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653833" cy="1317765"/>
            </a:xfrm>
            <a:custGeom>
              <a:avLst/>
              <a:gdLst/>
              <a:ahLst/>
              <a:cxnLst/>
              <a:rect r="r" b="b" t="t" l="l"/>
              <a:pathLst>
                <a:path h="1317765" w="2653833">
                  <a:moveTo>
                    <a:pt x="0" y="0"/>
                  </a:moveTo>
                  <a:lnTo>
                    <a:pt x="2653833" y="0"/>
                  </a:lnTo>
                  <a:lnTo>
                    <a:pt x="2653833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709" t="0" r="-13709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2653830" cy="1317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поиск · фильтры · карты</a:t>
              </a:r>
            </a:p>
            <a:p>
              <a:pPr algn="l">
                <a:lnSpc>
                  <a:spcPts val="1585"/>
                </a:lnSpc>
              </a:pPr>
              <a:r>
                <a:rPr lang="en-US" sz="1321">
                  <a:solidFill>
                    <a:srgbClr val="9DB2C7"/>
                  </a:solidFill>
                  <a:latin typeface="Aptos"/>
                  <a:ea typeface="Aptos"/>
                  <a:cs typeface="Aptos"/>
                  <a:sym typeface="Aptos"/>
                </a:rPr>
                <a:t>RU / KZ / EN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637671" y="7608799"/>
            <a:ext cx="14981196" cy="979932"/>
            <a:chOff x="0" y="0"/>
            <a:chExt cx="19974928" cy="130657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9974940" cy="1306576"/>
            </a:xfrm>
            <a:custGeom>
              <a:avLst/>
              <a:gdLst/>
              <a:ahLst/>
              <a:cxnLst/>
              <a:rect r="r" b="b" t="t" l="l"/>
              <a:pathLst>
                <a:path h="1306576" w="19974940">
                  <a:moveTo>
                    <a:pt x="0" y="224028"/>
                  </a:moveTo>
                  <a:cubicBezTo>
                    <a:pt x="0" y="100330"/>
                    <a:pt x="100330" y="0"/>
                    <a:pt x="224028" y="0"/>
                  </a:cubicBezTo>
                  <a:lnTo>
                    <a:pt x="19750912" y="0"/>
                  </a:lnTo>
                  <a:cubicBezTo>
                    <a:pt x="19874610" y="0"/>
                    <a:pt x="19974940" y="100330"/>
                    <a:pt x="19974940" y="224028"/>
                  </a:cubicBezTo>
                  <a:lnTo>
                    <a:pt x="19974940" y="1082548"/>
                  </a:lnTo>
                  <a:cubicBezTo>
                    <a:pt x="19974940" y="1206246"/>
                    <a:pt x="19874610" y="1306576"/>
                    <a:pt x="19750912" y="1306576"/>
                  </a:cubicBezTo>
                  <a:lnTo>
                    <a:pt x="224028" y="1306576"/>
                  </a:lnTo>
                  <a:cubicBezTo>
                    <a:pt x="100330" y="1306576"/>
                    <a:pt x="0" y="1206246"/>
                    <a:pt x="0" y="1082548"/>
                  </a:cubicBezTo>
                  <a:close/>
                </a:path>
              </a:pathLst>
            </a:custGeom>
            <a:solidFill>
              <a:srgbClr val="0A1524"/>
            </a:solidFill>
            <a:ln w="19065" cap="sq">
              <a:solidFill>
                <a:srgbClr val="1F344A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2059010" y="7934049"/>
            <a:ext cx="14138529" cy="219627"/>
            <a:chOff x="0" y="0"/>
            <a:chExt cx="18851372" cy="29283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8851367" cy="292837"/>
            </a:xfrm>
            <a:custGeom>
              <a:avLst/>
              <a:gdLst/>
              <a:ahLst/>
              <a:cxnLst/>
              <a:rect r="r" b="b" t="t" l="l"/>
              <a:pathLst>
                <a:path h="292837" w="18851367">
                  <a:moveTo>
                    <a:pt x="0" y="0"/>
                  </a:moveTo>
                  <a:lnTo>
                    <a:pt x="18851367" y="0"/>
                  </a:lnTo>
                  <a:lnTo>
                    <a:pt x="18851367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349" r="0" b="-120434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18851372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FastAPI · SQLAlchemy · Alembic · PostgreSQL 16 · Next.js 16 · TailwindCSS · Docker Compose</a:t>
              </a: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17798910" y="9901504"/>
            <a:ext cx="1018061" cy="35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EA4BC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906" y="9805073"/>
            <a:ext cx="17383373" cy="19069"/>
            <a:chOff x="0" y="0"/>
            <a:chExt cx="23177830" cy="25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77881" cy="25400"/>
            </a:xfrm>
            <a:custGeom>
              <a:avLst/>
              <a:gdLst/>
              <a:ahLst/>
              <a:cxnLst/>
              <a:rect r="r" b="b" t="t" l="l"/>
              <a:pathLst>
                <a:path h="25400" w="23177881">
                  <a:moveTo>
                    <a:pt x="0" y="0"/>
                  </a:moveTo>
                  <a:lnTo>
                    <a:pt x="23177881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7730300" r="0" b="-17730400"/>
              </a:stretch>
            </a:blipFill>
            <a:ln w="19065" cap="sq">
              <a:solidFill>
                <a:srgbClr val="1B2A3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9855784"/>
            <a:ext cx="4118019" cy="219627"/>
            <a:chOff x="0" y="0"/>
            <a:chExt cx="549069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90690" cy="292837"/>
            </a:xfrm>
            <a:custGeom>
              <a:avLst/>
              <a:gdLst/>
              <a:ahLst/>
              <a:cxnLst/>
              <a:rect r="r" b="b" t="t" l="l"/>
              <a:pathLst>
                <a:path h="292837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490693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8EA4BC"/>
                  </a:solidFill>
                  <a:latin typeface="Aptos"/>
                  <a:ea typeface="Aptos"/>
                  <a:cs typeface="Aptos"/>
                  <a:sym typeface="Aptos"/>
                </a:rPr>
                <a:t>MedServicePrice.kz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44431" y="9855784"/>
            <a:ext cx="3225784" cy="219627"/>
            <a:chOff x="0" y="0"/>
            <a:chExt cx="4301046" cy="2928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01040" cy="292837"/>
            </a:xfrm>
            <a:custGeom>
              <a:avLst/>
              <a:gdLst/>
              <a:ahLst/>
              <a:cxnLst/>
              <a:rect r="r" b="b" t="t" l="l"/>
              <a:pathLst>
                <a:path h="292837" w="4301040">
                  <a:moveTo>
                    <a:pt x="0" y="0"/>
                  </a:moveTo>
                  <a:lnTo>
                    <a:pt x="4301040" y="0"/>
                  </a:lnTo>
                  <a:lnTo>
                    <a:pt x="430104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4301046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70"/>
                </a:lnSpc>
              </a:pPr>
              <a:r>
                <a:rPr lang="en-US" sz="975">
                  <a:solidFill>
                    <a:srgbClr val="8EA4BC"/>
                  </a:solidFill>
                  <a:latin typeface="Aptos"/>
                  <a:ea typeface="Aptos"/>
                  <a:cs typeface="Aptos"/>
                  <a:sym typeface="Aptos"/>
                </a:rPr>
                <a:t>MiMo Code · Hackathon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8111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900000">
            <a:off x="-1803540" y="-1529001"/>
            <a:ext cx="5803354" cy="5803354"/>
            <a:chOff x="0" y="0"/>
            <a:chExt cx="7737805" cy="77378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solidFill>
              <a:srgbClr val="39B6FF">
                <a:alpha val="0"/>
              </a:srgbClr>
            </a:solidFill>
            <a:ln w="38130" cap="sq">
              <a:solidFill>
                <a:srgbClr val="39B6FF"/>
              </a:solidFill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solidFill>
              <a:srgbClr val="39B6FF">
                <a:alpha val="0"/>
              </a:srgbClr>
            </a:solidFill>
            <a:ln w="38130" cap="sq">
              <a:solidFill>
                <a:srgbClr val="39B6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1500000">
            <a:off x="14256725" y="6226597"/>
            <a:ext cx="5803354" cy="5803354"/>
            <a:chOff x="0" y="0"/>
            <a:chExt cx="7737805" cy="77378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  <a:lnTo>
                    <a:pt x="0" y="3868928"/>
                  </a:lnTo>
                  <a:close/>
                </a:path>
              </a:pathLst>
            </a:custGeom>
            <a:solidFill>
              <a:srgbClr val="55E1D7">
                <a:alpha val="0"/>
              </a:srgbClr>
            </a:solidFill>
            <a:ln w="38130" cap="sq">
              <a:solidFill>
                <a:srgbClr val="55E1D7"/>
              </a:solidFill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868928" y="0"/>
              <a:ext cx="3868928" cy="3868928"/>
            </a:xfrm>
            <a:custGeom>
              <a:avLst/>
              <a:gdLst/>
              <a:ahLst/>
              <a:cxnLst/>
              <a:rect r="r" b="b" t="t" l="l"/>
              <a:pathLst>
                <a:path h="3868928" w="3868928">
                  <a:moveTo>
                    <a:pt x="0" y="0"/>
                  </a:moveTo>
                  <a:cubicBezTo>
                    <a:pt x="2136648" y="0"/>
                    <a:pt x="3868928" y="1732153"/>
                    <a:pt x="3868928" y="3868928"/>
                  </a:cubicBezTo>
                </a:path>
              </a:pathLst>
            </a:custGeom>
            <a:solidFill>
              <a:srgbClr val="55E1D7">
                <a:alpha val="0"/>
              </a:srgbClr>
            </a:solidFill>
            <a:ln w="38130" cap="sq">
              <a:solidFill>
                <a:srgbClr val="55E1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92235" y="494167"/>
            <a:ext cx="11667715" cy="343167"/>
            <a:chOff x="0" y="0"/>
            <a:chExt cx="15556954" cy="4575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56954" cy="457557"/>
            </a:xfrm>
            <a:custGeom>
              <a:avLst/>
              <a:gdLst/>
              <a:ahLst/>
              <a:cxnLst/>
              <a:rect r="r" b="b" t="t" l="l"/>
              <a:pathLst>
                <a:path h="457557" w="15556954">
                  <a:moveTo>
                    <a:pt x="0" y="0"/>
                  </a:moveTo>
                  <a:lnTo>
                    <a:pt x="15556954" y="0"/>
                  </a:lnTo>
                  <a:lnTo>
                    <a:pt x="15556954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5556954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 b="true">
                  <a:solidFill>
                    <a:srgbClr val="55E1D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ФИНАЛЬНЫЙ АКЦЕНТ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51059" y="988324"/>
            <a:ext cx="14824862" cy="754971"/>
            <a:chOff x="0" y="0"/>
            <a:chExt cx="19766483" cy="10066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766483" cy="1006626"/>
            </a:xfrm>
            <a:custGeom>
              <a:avLst/>
              <a:gdLst/>
              <a:ahLst/>
              <a:cxnLst/>
              <a:rect r="r" b="b" t="t" l="l"/>
              <a:pathLst>
                <a:path h="1006626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615" r="0" b="-33261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9766483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3"/>
                </a:lnSpc>
              </a:pPr>
              <a:r>
                <a:rPr lang="en-US" sz="3752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Результат и ценность для жюри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63641" y="1824514"/>
            <a:ext cx="1635766" cy="57198"/>
            <a:chOff x="0" y="0"/>
            <a:chExt cx="2181022" cy="762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80971" cy="76200"/>
            </a:xfrm>
            <a:custGeom>
              <a:avLst/>
              <a:gdLst/>
              <a:ahLst/>
              <a:cxnLst/>
              <a:rect r="r" b="b" t="t" l="l"/>
              <a:pathLst>
                <a:path h="76200" w="2180971">
                  <a:moveTo>
                    <a:pt x="0" y="0"/>
                  </a:moveTo>
                  <a:lnTo>
                    <a:pt x="2180971" y="762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507665" r="-2" b="-507748"/>
              </a:stretch>
            </a:blipFill>
            <a:ln w="57195" cap="sq">
              <a:solidFill>
                <a:srgbClr val="39B6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88603" y="2488730"/>
            <a:ext cx="5166589" cy="5441118"/>
            <a:chOff x="0" y="0"/>
            <a:chExt cx="6888785" cy="7254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88861" cy="7254875"/>
            </a:xfrm>
            <a:custGeom>
              <a:avLst/>
              <a:gdLst/>
              <a:ahLst/>
              <a:cxnLst/>
              <a:rect r="r" b="b" t="t" l="l"/>
              <a:pathLst>
                <a:path h="7254875" w="6888861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6668389" y="0"/>
                  </a:lnTo>
                  <a:cubicBezTo>
                    <a:pt x="6790182" y="0"/>
                    <a:pt x="6888861" y="98679"/>
                    <a:pt x="6888861" y="220472"/>
                  </a:cubicBezTo>
                  <a:lnTo>
                    <a:pt x="6888861" y="7034403"/>
                  </a:lnTo>
                  <a:cubicBezTo>
                    <a:pt x="6888861" y="7156197"/>
                    <a:pt x="6790182" y="7254875"/>
                    <a:pt x="6668389" y="7254875"/>
                  </a:cubicBezTo>
                  <a:lnTo>
                    <a:pt x="220472" y="7254875"/>
                  </a:lnTo>
                  <a:cubicBezTo>
                    <a:pt x="98679" y="7254875"/>
                    <a:pt x="0" y="7156196"/>
                    <a:pt x="0" y="7034403"/>
                  </a:cubicBezTo>
                  <a:close/>
                </a:path>
              </a:pathLst>
            </a:custGeom>
            <a:solidFill>
              <a:srgbClr val="0D1A2A"/>
            </a:solidFill>
            <a:ln w="19065" cap="sq">
              <a:solidFill>
                <a:srgbClr val="243B5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537392" y="2951245"/>
            <a:ext cx="4118019" cy="411804"/>
            <a:chOff x="0" y="0"/>
            <a:chExt cx="5490693" cy="5490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90690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490693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2"/>
                </a:lnSpc>
              </a:pPr>
              <a:r>
                <a:rPr lang="en-US" sz="3002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Работает как продукт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69044" y="4108485"/>
            <a:ext cx="197510" cy="197510"/>
            <a:chOff x="0" y="0"/>
            <a:chExt cx="263347" cy="26334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3398" cy="263398"/>
            </a:xfrm>
            <a:custGeom>
              <a:avLst/>
              <a:gdLst/>
              <a:ahLst/>
              <a:cxnLst/>
              <a:rect r="r" b="b" t="t" l="l"/>
              <a:pathLst>
                <a:path h="263398" w="263398">
                  <a:moveTo>
                    <a:pt x="0" y="131699"/>
                  </a:moveTo>
                  <a:cubicBezTo>
                    <a:pt x="0" y="58928"/>
                    <a:pt x="58928" y="0"/>
                    <a:pt x="131699" y="0"/>
                  </a:cubicBezTo>
                  <a:cubicBezTo>
                    <a:pt x="204470" y="0"/>
                    <a:pt x="263398" y="58928"/>
                    <a:pt x="263398" y="131699"/>
                  </a:cubicBezTo>
                  <a:cubicBezTo>
                    <a:pt x="263398" y="204470"/>
                    <a:pt x="204343" y="263398"/>
                    <a:pt x="131699" y="263398"/>
                  </a:cubicBezTo>
                  <a:cubicBezTo>
                    <a:pt x="59055" y="263398"/>
                    <a:pt x="0" y="204343"/>
                    <a:pt x="0" y="131699"/>
                  </a:cubicBezTo>
                  <a:close/>
                </a:path>
              </a:pathLst>
            </a:custGeom>
            <a:solidFill>
              <a:srgbClr val="79F2A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908010" y="4049382"/>
            <a:ext cx="3843480" cy="494167"/>
            <a:chOff x="0" y="0"/>
            <a:chExt cx="5124640" cy="65888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24644" cy="658883"/>
            </a:xfrm>
            <a:custGeom>
              <a:avLst/>
              <a:gdLst/>
              <a:ahLst/>
              <a:cxnLst/>
              <a:rect r="r" b="b" t="t" l="l"/>
              <a:pathLst>
                <a:path h="658883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49" r="0" b="-10155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5124640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>
                  <a:solidFill>
                    <a:srgbClr val="F4F8FB"/>
                  </a:solidFill>
                  <a:latin typeface="Aptos"/>
                  <a:ea typeface="Aptos"/>
                  <a:cs typeface="Aptos"/>
                  <a:sym typeface="Aptos"/>
                </a:rPr>
                <a:t>не просто макет, а живой поиск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69044" y="4836004"/>
            <a:ext cx="197510" cy="197510"/>
            <a:chOff x="0" y="0"/>
            <a:chExt cx="263347" cy="26334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63398" cy="263398"/>
            </a:xfrm>
            <a:custGeom>
              <a:avLst/>
              <a:gdLst/>
              <a:ahLst/>
              <a:cxnLst/>
              <a:rect r="r" b="b" t="t" l="l"/>
              <a:pathLst>
                <a:path h="263398" w="263398">
                  <a:moveTo>
                    <a:pt x="0" y="131699"/>
                  </a:moveTo>
                  <a:cubicBezTo>
                    <a:pt x="0" y="58928"/>
                    <a:pt x="58928" y="0"/>
                    <a:pt x="131699" y="0"/>
                  </a:cubicBezTo>
                  <a:cubicBezTo>
                    <a:pt x="204470" y="0"/>
                    <a:pt x="263398" y="58928"/>
                    <a:pt x="263398" y="131699"/>
                  </a:cubicBezTo>
                  <a:cubicBezTo>
                    <a:pt x="263398" y="204470"/>
                    <a:pt x="204343" y="263398"/>
                    <a:pt x="131699" y="263398"/>
                  </a:cubicBezTo>
                  <a:cubicBezTo>
                    <a:pt x="59055" y="263398"/>
                    <a:pt x="0" y="204343"/>
                    <a:pt x="0" y="131699"/>
                  </a:cubicBezTo>
                  <a:close/>
                </a:path>
              </a:pathLst>
            </a:custGeom>
            <a:solidFill>
              <a:srgbClr val="79F2A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908010" y="4776902"/>
            <a:ext cx="3843480" cy="494167"/>
            <a:chOff x="0" y="0"/>
            <a:chExt cx="5124640" cy="65888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24644" cy="658883"/>
            </a:xfrm>
            <a:custGeom>
              <a:avLst/>
              <a:gdLst/>
              <a:ahLst/>
              <a:cxnLst/>
              <a:rect r="r" b="b" t="t" l="l"/>
              <a:pathLst>
                <a:path h="658883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49" r="0" b="-10155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5124640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>
                  <a:solidFill>
                    <a:srgbClr val="F4F8FB"/>
                  </a:solidFill>
                  <a:latin typeface="Aptos"/>
                  <a:ea typeface="Aptos"/>
                  <a:cs typeface="Aptos"/>
                  <a:sym typeface="Aptos"/>
                </a:rPr>
                <a:t>реальные публичные источники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69044" y="5563514"/>
            <a:ext cx="197510" cy="197510"/>
            <a:chOff x="0" y="0"/>
            <a:chExt cx="263347" cy="26334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3398" cy="263398"/>
            </a:xfrm>
            <a:custGeom>
              <a:avLst/>
              <a:gdLst/>
              <a:ahLst/>
              <a:cxnLst/>
              <a:rect r="r" b="b" t="t" l="l"/>
              <a:pathLst>
                <a:path h="263398" w="263398">
                  <a:moveTo>
                    <a:pt x="0" y="131699"/>
                  </a:moveTo>
                  <a:cubicBezTo>
                    <a:pt x="0" y="58928"/>
                    <a:pt x="58928" y="0"/>
                    <a:pt x="131699" y="0"/>
                  </a:cubicBezTo>
                  <a:cubicBezTo>
                    <a:pt x="204470" y="0"/>
                    <a:pt x="263398" y="58928"/>
                    <a:pt x="263398" y="131699"/>
                  </a:cubicBezTo>
                  <a:cubicBezTo>
                    <a:pt x="263398" y="204470"/>
                    <a:pt x="204343" y="263398"/>
                    <a:pt x="131699" y="263398"/>
                  </a:cubicBezTo>
                  <a:cubicBezTo>
                    <a:pt x="59055" y="263398"/>
                    <a:pt x="0" y="204343"/>
                    <a:pt x="0" y="131699"/>
                  </a:cubicBezTo>
                  <a:close/>
                </a:path>
              </a:pathLst>
            </a:custGeom>
            <a:solidFill>
              <a:srgbClr val="79F2A4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908010" y="5504412"/>
            <a:ext cx="3843480" cy="494167"/>
            <a:chOff x="0" y="0"/>
            <a:chExt cx="5124640" cy="65888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24644" cy="658883"/>
            </a:xfrm>
            <a:custGeom>
              <a:avLst/>
              <a:gdLst/>
              <a:ahLst/>
              <a:cxnLst/>
              <a:rect r="r" b="b" t="t" l="l"/>
              <a:pathLst>
                <a:path h="658883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49" r="0" b="-1015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5124640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>
                  <a:solidFill>
                    <a:srgbClr val="F4F8FB"/>
                  </a:solidFill>
                  <a:latin typeface="Aptos"/>
                  <a:ea typeface="Aptos"/>
                  <a:cs typeface="Aptos"/>
                  <a:sym typeface="Aptos"/>
                </a:rPr>
                <a:t>локализация данных и интерфейса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689112" y="2488730"/>
            <a:ext cx="5166589" cy="5441118"/>
            <a:chOff x="0" y="0"/>
            <a:chExt cx="6888785" cy="72548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888861" cy="7254875"/>
            </a:xfrm>
            <a:custGeom>
              <a:avLst/>
              <a:gdLst/>
              <a:ahLst/>
              <a:cxnLst/>
              <a:rect r="r" b="b" t="t" l="l"/>
              <a:pathLst>
                <a:path h="7254875" w="6888861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6668389" y="0"/>
                  </a:lnTo>
                  <a:cubicBezTo>
                    <a:pt x="6790182" y="0"/>
                    <a:pt x="6888861" y="98679"/>
                    <a:pt x="6888861" y="220472"/>
                  </a:cubicBezTo>
                  <a:lnTo>
                    <a:pt x="6888861" y="7034403"/>
                  </a:lnTo>
                  <a:cubicBezTo>
                    <a:pt x="6888861" y="7156197"/>
                    <a:pt x="6790182" y="7254875"/>
                    <a:pt x="6668389" y="7254875"/>
                  </a:cubicBezTo>
                  <a:lnTo>
                    <a:pt x="220472" y="7254875"/>
                  </a:lnTo>
                  <a:cubicBezTo>
                    <a:pt x="98679" y="7254875"/>
                    <a:pt x="0" y="7156196"/>
                    <a:pt x="0" y="7034403"/>
                  </a:cubicBezTo>
                  <a:close/>
                </a:path>
              </a:pathLst>
            </a:custGeom>
            <a:solidFill>
              <a:srgbClr val="0D1A2A"/>
            </a:solidFill>
            <a:ln w="19065" cap="sq">
              <a:solidFill>
                <a:srgbClr val="243B5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7137892" y="2951245"/>
            <a:ext cx="4118019" cy="411804"/>
            <a:chOff x="0" y="0"/>
            <a:chExt cx="5490693" cy="5490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90690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5490693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2"/>
                </a:lnSpc>
              </a:pPr>
              <a:r>
                <a:rPr lang="en-US" sz="3002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Масштабируется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169544" y="4108485"/>
            <a:ext cx="197510" cy="197510"/>
            <a:chOff x="0" y="0"/>
            <a:chExt cx="263347" cy="26334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3398" cy="263398"/>
            </a:xfrm>
            <a:custGeom>
              <a:avLst/>
              <a:gdLst/>
              <a:ahLst/>
              <a:cxnLst/>
              <a:rect r="r" b="b" t="t" l="l"/>
              <a:pathLst>
                <a:path h="263398" w="263398">
                  <a:moveTo>
                    <a:pt x="0" y="131699"/>
                  </a:moveTo>
                  <a:cubicBezTo>
                    <a:pt x="0" y="58928"/>
                    <a:pt x="58928" y="0"/>
                    <a:pt x="131699" y="0"/>
                  </a:cubicBezTo>
                  <a:cubicBezTo>
                    <a:pt x="204470" y="0"/>
                    <a:pt x="263398" y="58928"/>
                    <a:pt x="263398" y="131699"/>
                  </a:cubicBezTo>
                  <a:cubicBezTo>
                    <a:pt x="263398" y="204470"/>
                    <a:pt x="204343" y="263398"/>
                    <a:pt x="131699" y="263398"/>
                  </a:cubicBezTo>
                  <a:cubicBezTo>
                    <a:pt x="59055" y="263398"/>
                    <a:pt x="0" y="204343"/>
                    <a:pt x="0" y="131699"/>
                  </a:cubicBezTo>
                  <a:close/>
                </a:path>
              </a:pathLst>
            </a:custGeom>
            <a:solidFill>
              <a:srgbClr val="55E1D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508519" y="4049382"/>
            <a:ext cx="3843480" cy="494167"/>
            <a:chOff x="0" y="0"/>
            <a:chExt cx="5124640" cy="65888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124644" cy="658883"/>
            </a:xfrm>
            <a:custGeom>
              <a:avLst/>
              <a:gdLst/>
              <a:ahLst/>
              <a:cxnLst/>
              <a:rect r="r" b="b" t="t" l="l"/>
              <a:pathLst>
                <a:path h="658883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49" r="0" b="-1015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9525"/>
              <a:ext cx="5124640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>
                  <a:solidFill>
                    <a:srgbClr val="F4F8FB"/>
                  </a:solidFill>
                  <a:latin typeface="Aptos"/>
                  <a:ea typeface="Aptos"/>
                  <a:cs typeface="Aptos"/>
                  <a:sym typeface="Aptos"/>
                </a:rPr>
                <a:t>можно добавлять новые клиники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169544" y="4836004"/>
            <a:ext cx="197510" cy="197510"/>
            <a:chOff x="0" y="0"/>
            <a:chExt cx="263347" cy="26334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63398" cy="263398"/>
            </a:xfrm>
            <a:custGeom>
              <a:avLst/>
              <a:gdLst/>
              <a:ahLst/>
              <a:cxnLst/>
              <a:rect r="r" b="b" t="t" l="l"/>
              <a:pathLst>
                <a:path h="263398" w="263398">
                  <a:moveTo>
                    <a:pt x="0" y="131699"/>
                  </a:moveTo>
                  <a:cubicBezTo>
                    <a:pt x="0" y="58928"/>
                    <a:pt x="58928" y="0"/>
                    <a:pt x="131699" y="0"/>
                  </a:cubicBezTo>
                  <a:cubicBezTo>
                    <a:pt x="204470" y="0"/>
                    <a:pt x="263398" y="58928"/>
                    <a:pt x="263398" y="131699"/>
                  </a:cubicBezTo>
                  <a:cubicBezTo>
                    <a:pt x="263398" y="204470"/>
                    <a:pt x="204343" y="263398"/>
                    <a:pt x="131699" y="263398"/>
                  </a:cubicBezTo>
                  <a:cubicBezTo>
                    <a:pt x="59055" y="263398"/>
                    <a:pt x="0" y="204343"/>
                    <a:pt x="0" y="131699"/>
                  </a:cubicBezTo>
                  <a:close/>
                </a:path>
              </a:pathLst>
            </a:custGeom>
            <a:solidFill>
              <a:srgbClr val="55E1D7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508519" y="4776902"/>
            <a:ext cx="3843480" cy="494167"/>
            <a:chOff x="0" y="0"/>
            <a:chExt cx="5124640" cy="65888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24644" cy="658883"/>
            </a:xfrm>
            <a:custGeom>
              <a:avLst/>
              <a:gdLst/>
              <a:ahLst/>
              <a:cxnLst/>
              <a:rect r="r" b="b" t="t" l="l"/>
              <a:pathLst>
                <a:path h="658883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49" r="0" b="-10155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9525"/>
              <a:ext cx="5124640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>
                  <a:solidFill>
                    <a:srgbClr val="F4F8FB"/>
                  </a:solidFill>
                  <a:latin typeface="Aptos"/>
                  <a:ea typeface="Aptos"/>
                  <a:cs typeface="Aptos"/>
                  <a:sym typeface="Aptos"/>
                </a:rPr>
                <a:t>канонический словарь расширяется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169544" y="5563514"/>
            <a:ext cx="197510" cy="197510"/>
            <a:chOff x="0" y="0"/>
            <a:chExt cx="263347" cy="26334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63398" cy="263398"/>
            </a:xfrm>
            <a:custGeom>
              <a:avLst/>
              <a:gdLst/>
              <a:ahLst/>
              <a:cxnLst/>
              <a:rect r="r" b="b" t="t" l="l"/>
              <a:pathLst>
                <a:path h="263398" w="263398">
                  <a:moveTo>
                    <a:pt x="0" y="131699"/>
                  </a:moveTo>
                  <a:cubicBezTo>
                    <a:pt x="0" y="58928"/>
                    <a:pt x="58928" y="0"/>
                    <a:pt x="131699" y="0"/>
                  </a:cubicBezTo>
                  <a:cubicBezTo>
                    <a:pt x="204470" y="0"/>
                    <a:pt x="263398" y="58928"/>
                    <a:pt x="263398" y="131699"/>
                  </a:cubicBezTo>
                  <a:cubicBezTo>
                    <a:pt x="263398" y="204470"/>
                    <a:pt x="204343" y="263398"/>
                    <a:pt x="131699" y="263398"/>
                  </a:cubicBezTo>
                  <a:cubicBezTo>
                    <a:pt x="59055" y="263398"/>
                    <a:pt x="0" y="204343"/>
                    <a:pt x="0" y="131699"/>
                  </a:cubicBezTo>
                  <a:close/>
                </a:path>
              </a:pathLst>
            </a:custGeom>
            <a:solidFill>
              <a:srgbClr val="55E1D7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7508519" y="5504412"/>
            <a:ext cx="3843480" cy="494167"/>
            <a:chOff x="0" y="0"/>
            <a:chExt cx="5124640" cy="65888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124644" cy="658883"/>
            </a:xfrm>
            <a:custGeom>
              <a:avLst/>
              <a:gdLst/>
              <a:ahLst/>
              <a:cxnLst/>
              <a:rect r="r" b="b" t="t" l="l"/>
              <a:pathLst>
                <a:path h="658883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49" r="0" b="-10155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9525"/>
              <a:ext cx="5124640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>
                  <a:solidFill>
                    <a:srgbClr val="F4F8FB"/>
                  </a:solidFill>
                  <a:latin typeface="Aptos"/>
                  <a:ea typeface="Aptos"/>
                  <a:cs typeface="Aptos"/>
                  <a:sym typeface="Aptos"/>
                </a:rPr>
                <a:t>архитектура готова к продакшену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275887" y="2488730"/>
            <a:ext cx="4892050" cy="5441118"/>
            <a:chOff x="0" y="0"/>
            <a:chExt cx="6522733" cy="725482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522720" cy="7254875"/>
            </a:xfrm>
            <a:custGeom>
              <a:avLst/>
              <a:gdLst/>
              <a:ahLst/>
              <a:cxnLst/>
              <a:rect r="r" b="b" t="t" l="l"/>
              <a:pathLst>
                <a:path h="7254875" w="652272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6302248" y="0"/>
                  </a:lnTo>
                  <a:cubicBezTo>
                    <a:pt x="6424041" y="0"/>
                    <a:pt x="6522720" y="98679"/>
                    <a:pt x="6522720" y="220472"/>
                  </a:cubicBezTo>
                  <a:lnTo>
                    <a:pt x="6522720" y="7034403"/>
                  </a:lnTo>
                  <a:cubicBezTo>
                    <a:pt x="6522720" y="7156197"/>
                    <a:pt x="6424041" y="7254875"/>
                    <a:pt x="6302248" y="7254875"/>
                  </a:cubicBezTo>
                  <a:lnTo>
                    <a:pt x="220472" y="7254875"/>
                  </a:lnTo>
                  <a:cubicBezTo>
                    <a:pt x="98679" y="7254875"/>
                    <a:pt x="0" y="7156069"/>
                    <a:pt x="0" y="7034403"/>
                  </a:cubicBezTo>
                  <a:close/>
                </a:path>
              </a:pathLst>
            </a:custGeom>
            <a:solidFill>
              <a:srgbClr val="0D1F30"/>
            </a:solidFill>
            <a:ln w="19065" cap="sq">
              <a:solidFill>
                <a:srgbClr val="2A5B71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2697216" y="2951245"/>
            <a:ext cx="3912118" cy="411804"/>
            <a:chOff x="0" y="0"/>
            <a:chExt cx="5216157" cy="5490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216155" cy="549069"/>
            </a:xfrm>
            <a:custGeom>
              <a:avLst/>
              <a:gdLst/>
              <a:ahLst/>
              <a:cxnLst/>
              <a:rect r="r" b="b" t="t" l="l"/>
              <a:pathLst>
                <a:path h="549069" w="5216155">
                  <a:moveTo>
                    <a:pt x="0" y="0"/>
                  </a:moveTo>
                  <a:lnTo>
                    <a:pt x="5216155" y="0"/>
                  </a:lnTo>
                  <a:lnTo>
                    <a:pt x="521615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521615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2"/>
                </a:lnSpc>
              </a:pPr>
              <a:r>
                <a:rPr lang="en-US" sz="3002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Победный тезис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697216" y="4049382"/>
            <a:ext cx="3637578" cy="2278080"/>
            <a:chOff x="0" y="0"/>
            <a:chExt cx="4850105" cy="3037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50109" cy="3037443"/>
            </a:xfrm>
            <a:custGeom>
              <a:avLst/>
              <a:gdLst/>
              <a:ahLst/>
              <a:cxnLst/>
              <a:rect r="r" b="b" t="t" l="l"/>
              <a:pathLst>
                <a:path h="3037443" w="4850109">
                  <a:moveTo>
                    <a:pt x="0" y="0"/>
                  </a:moveTo>
                  <a:lnTo>
                    <a:pt x="4850109" y="0"/>
                  </a:lnTo>
                  <a:lnTo>
                    <a:pt x="4850109" y="3037443"/>
                  </a:lnTo>
                  <a:lnTo>
                    <a:pt x="0" y="30374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203" t="0" r="-20203" b="1262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4850105" cy="304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Мы превращаем разрозненные медицинские прайсы Казахстана в понятный, мультиязычный и проверяемый поиск для пациента.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687691" y="6579299"/>
            <a:ext cx="3656647" cy="650491"/>
            <a:chOff x="0" y="0"/>
            <a:chExt cx="4875530" cy="86732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875530" cy="867410"/>
            </a:xfrm>
            <a:custGeom>
              <a:avLst/>
              <a:gdLst/>
              <a:ahLst/>
              <a:cxnLst/>
              <a:rect r="r" b="b" t="t" l="l"/>
              <a:pathLst>
                <a:path h="867410" w="4875530">
                  <a:moveTo>
                    <a:pt x="0" y="226314"/>
                  </a:moveTo>
                  <a:cubicBezTo>
                    <a:pt x="0" y="101346"/>
                    <a:pt x="101346" y="0"/>
                    <a:pt x="226314" y="0"/>
                  </a:cubicBezTo>
                  <a:lnTo>
                    <a:pt x="4649216" y="0"/>
                  </a:lnTo>
                  <a:cubicBezTo>
                    <a:pt x="4774184" y="0"/>
                    <a:pt x="4875530" y="101346"/>
                    <a:pt x="4875530" y="226314"/>
                  </a:cubicBezTo>
                  <a:lnTo>
                    <a:pt x="4875530" y="641096"/>
                  </a:lnTo>
                  <a:cubicBezTo>
                    <a:pt x="4875530" y="766064"/>
                    <a:pt x="4774184" y="867410"/>
                    <a:pt x="4649216" y="867410"/>
                  </a:cubicBezTo>
                  <a:lnTo>
                    <a:pt x="226314" y="867410"/>
                  </a:lnTo>
                  <a:cubicBezTo>
                    <a:pt x="101346" y="867283"/>
                    <a:pt x="0" y="766064"/>
                    <a:pt x="0" y="641096"/>
                  </a:cubicBezTo>
                  <a:close/>
                </a:path>
              </a:pathLst>
            </a:custGeom>
            <a:solidFill>
              <a:srgbClr val="55E1D7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930578" y="6794725"/>
            <a:ext cx="3157147" cy="178451"/>
            <a:chOff x="0" y="0"/>
            <a:chExt cx="4209529" cy="23793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209529" cy="237930"/>
            </a:xfrm>
            <a:custGeom>
              <a:avLst/>
              <a:gdLst/>
              <a:ahLst/>
              <a:cxnLst/>
              <a:rect r="r" b="b" t="t" l="l"/>
              <a:pathLst>
                <a:path h="237930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34" r="0" b="-29473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4209529" cy="2379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9"/>
                </a:lnSpc>
              </a:pPr>
              <a:r>
                <a:rPr lang="en-US" sz="1441" b="true">
                  <a:solidFill>
                    <a:srgbClr val="06111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Демо: localhost:3000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25588" y="8606657"/>
            <a:ext cx="4392549" cy="549069"/>
            <a:chOff x="0" y="0"/>
            <a:chExt cx="5856732" cy="7320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856736" cy="732092"/>
            </a:xfrm>
            <a:custGeom>
              <a:avLst/>
              <a:gdLst/>
              <a:ahLst/>
              <a:cxnLst/>
              <a:rect r="r" b="b" t="t" l="l"/>
              <a:pathLst>
                <a:path h="732092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5856732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3"/>
                </a:lnSpc>
              </a:pPr>
              <a:r>
                <a:rPr lang="en-US" sz="3602" b="true">
                  <a:solidFill>
                    <a:srgbClr val="F4F8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Спасибо!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17798910" y="9901504"/>
            <a:ext cx="1018061" cy="35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EA4BC"/>
                </a:solidFill>
                <a:latin typeface="Aptos"/>
                <a:ea typeface="Aptos"/>
                <a:cs typeface="Aptos"/>
                <a:sym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DAHN3Ni7cMc</dc:identifier>
  <dcterms:modified xsi:type="dcterms:W3CDTF">2011-08-01T06:04:30Z</dcterms:modified>
  <cp:revision>1</cp:revision>
  <dc:title>MedServicePrice.pptx</dc:title>
</cp:coreProperties>
</file>